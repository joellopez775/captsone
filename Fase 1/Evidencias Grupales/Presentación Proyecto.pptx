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b75eda92b4b3e" /><Relationship Type="http://schemas.openxmlformats.org/officeDocument/2006/relationships/extended-properties" Target="/docProps/app.xml" Id="Ra97c4eb3972f4200" /><Relationship Type="http://schemas.openxmlformats.org/officeDocument/2006/relationships/officeDocument" Target="/ppt/presentation.xml" Id="R8aa6eb49ce3149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ac70740f94f46"/>
  </p:sldMasterIdLst>
  <p:notesMasterIdLst>
    <p:notesMasterId xmlns:r="http://schemas.openxmlformats.org/officeDocument/2006/relationships" r:id="R2dc39a37e027467f"/>
  </p:notesMasterIdLst>
  <p:sldIdLst>
    <p:sldId xmlns:r="http://schemas.openxmlformats.org/officeDocument/2006/relationships" id="256" r:id="R719006602f1344fe"/>
    <p:sldId xmlns:r="http://schemas.openxmlformats.org/officeDocument/2006/relationships" id="257" r:id="Rfcb7e0e566994e53"/>
    <p:sldId xmlns:r="http://schemas.openxmlformats.org/officeDocument/2006/relationships" id="258" r:id="R129ce8e07352444c"/>
    <p:sldId xmlns:r="http://schemas.openxmlformats.org/officeDocument/2006/relationships" id="259" r:id="R4e70feba7b38403b"/>
    <p:sldId xmlns:r="http://schemas.openxmlformats.org/officeDocument/2006/relationships" id="260" r:id="R48f74f2f2f7c483f"/>
    <p:sldId xmlns:r="http://schemas.openxmlformats.org/officeDocument/2006/relationships" id="261" r:id="Rff28337fa1fe4e77"/>
    <p:sldId xmlns:r="http://schemas.openxmlformats.org/officeDocument/2006/relationships" id="262" r:id="R81b6103799d34501"/>
    <p:sldId xmlns:r="http://schemas.openxmlformats.org/officeDocument/2006/relationships" id="263" r:id="R00774ef10d424600"/>
    <p:sldId xmlns:r="http://schemas.openxmlformats.org/officeDocument/2006/relationships" id="264" r:id="R02f83bbe9ed84254"/>
    <p:sldId xmlns:r="http://schemas.openxmlformats.org/officeDocument/2006/relationships" id="265" r:id="R01f1deafeb3449c9"/>
    <p:sldId xmlns:r="http://schemas.openxmlformats.org/officeDocument/2006/relationships" id="266" r:id="R670fab15bdc940c5"/>
    <p:sldId xmlns:r="http://schemas.openxmlformats.org/officeDocument/2006/relationships" id="267" r:id="R7faf8558733347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a1582b8544c01" /><Relationship Type="http://schemas.openxmlformats.org/officeDocument/2006/relationships/slideMaster" Target="/ppt/slideMasters/slideMaster1.xml" Id="R91bac70740f94f46" /><Relationship Type="http://schemas.openxmlformats.org/officeDocument/2006/relationships/notesMaster" Target="/ppt/notesMasters/notesMaster1.xml" Id="R2dc39a37e027467f" /><Relationship Type="http://schemas.openxmlformats.org/officeDocument/2006/relationships/presProps" Target="/ppt/presProps.xml" Id="R86cb58ac6172457d" /><Relationship Type="http://schemas.openxmlformats.org/officeDocument/2006/relationships/tableStyles" Target="/ppt/tableStyles.xml" Id="R474ba86c786d4240" /><Relationship Type="http://schemas.openxmlformats.org/officeDocument/2006/relationships/slide" Target="/ppt/slides/slide1.xml" Id="R719006602f1344fe" /><Relationship Type="http://schemas.openxmlformats.org/officeDocument/2006/relationships/slide" Target="/ppt/slides/slide2.xml" Id="Rfcb7e0e566994e53" /><Relationship Type="http://schemas.openxmlformats.org/officeDocument/2006/relationships/slide" Target="/ppt/slides/slide3.xml" Id="R129ce8e07352444c" /><Relationship Type="http://schemas.openxmlformats.org/officeDocument/2006/relationships/slide" Target="/ppt/slides/slide4.xml" Id="R4e70feba7b38403b" /><Relationship Type="http://schemas.openxmlformats.org/officeDocument/2006/relationships/slide" Target="/ppt/slides/slide5.xml" Id="R48f74f2f2f7c483f" /><Relationship Type="http://schemas.openxmlformats.org/officeDocument/2006/relationships/slide" Target="/ppt/slides/slide6.xml" Id="Rff28337fa1fe4e77" /><Relationship Type="http://schemas.openxmlformats.org/officeDocument/2006/relationships/slide" Target="/ppt/slides/slide7.xml" Id="R81b6103799d34501" /><Relationship Type="http://schemas.openxmlformats.org/officeDocument/2006/relationships/slide" Target="/ppt/slides/slide8.xml" Id="R00774ef10d424600" /><Relationship Type="http://schemas.openxmlformats.org/officeDocument/2006/relationships/slide" Target="/ppt/slides/slide9.xml" Id="R02f83bbe9ed84254" /><Relationship Type="http://schemas.openxmlformats.org/officeDocument/2006/relationships/slide" Target="/ppt/slides/slide10.xml" Id="R01f1deafeb3449c9" /><Relationship Type="http://schemas.openxmlformats.org/officeDocument/2006/relationships/slide" Target="/ppt/slides/slide11.xml" Id="R670fab15bdc940c5" /><Relationship Type="http://schemas.openxmlformats.org/officeDocument/2006/relationships/slide" Target="/ppt/slides/slide12.xml" Id="R7faf85587333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62df840da3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293a942bfb463a" /><Relationship Type="http://schemas.openxmlformats.org/officeDocument/2006/relationships/notesMaster" Target="/ppt/notesMasters/notesMaster1.xml" Id="R0326b25d8a3843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c98d897d404708" /><Relationship Type="http://schemas.openxmlformats.org/officeDocument/2006/relationships/notesMaster" Target="/ppt/notesMasters/notesMaster1.xml" Id="R8e6c0dce4c7648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8ae3cc43454fe4" /><Relationship Type="http://schemas.openxmlformats.org/officeDocument/2006/relationships/notesMaster" Target="/ppt/notesMasters/notesMaster1.xml" Id="R33f075a5f6624b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d0ebc2a92840fc" /><Relationship Type="http://schemas.openxmlformats.org/officeDocument/2006/relationships/notesMaster" Target="/ppt/notesMasters/notesMaster1.xml" Id="R370016a39bf44e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715b91e10b4008" /><Relationship Type="http://schemas.openxmlformats.org/officeDocument/2006/relationships/notesMaster" Target="/ppt/notesMasters/notesMaster1.xml" Id="R9e4d5b2be27e45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3ab035c224415d" /><Relationship Type="http://schemas.openxmlformats.org/officeDocument/2006/relationships/notesMaster" Target="/ppt/notesMasters/notesMaster1.xml" Id="Ra2dc587c82e0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62890e25194bb4" /><Relationship Type="http://schemas.openxmlformats.org/officeDocument/2006/relationships/notesMaster" Target="/ppt/notesMasters/notesMaster1.xml" Id="Re8b638001333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46d8e1dd8e4e54" /><Relationship Type="http://schemas.openxmlformats.org/officeDocument/2006/relationships/notesMaster" Target="/ppt/notesMasters/notesMaster1.xml" Id="Rabc3adc13919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eebbb93712476e" /><Relationship Type="http://schemas.openxmlformats.org/officeDocument/2006/relationships/notesMaster" Target="/ppt/notesMasters/notesMaster1.xml" Id="Ra4c50ca4cf5a4c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93d46df3364b71" /><Relationship Type="http://schemas.openxmlformats.org/officeDocument/2006/relationships/notesMaster" Target="/ppt/notesMasters/notesMaster1.xml" Id="R8e8f3efaeed848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dbded777eb4a41" /><Relationship Type="http://schemas.openxmlformats.org/officeDocument/2006/relationships/notesMaster" Target="/ppt/notesMasters/notesMaster1.xml" Id="R07966489b66948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5bea5fab31455b" /><Relationship Type="http://schemas.openxmlformats.org/officeDocument/2006/relationships/notesMaster" Target="/ppt/notesMasters/notesMaster1.xml" Id="Rb395a19488b9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Documentación del proyecto InmoGest IA</a:t>
            </a:r>
          </a:p>
          <a:p xmlns:a="http://schemas.openxmlformats.org/drawingml/2006/main">
            <a:r>
              <a:t>- Instructivo CAPSTONE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1/docs/00-contexto-y-diagnostico.md</a:t>
            </a:r>
          </a:p>
          <a:p xmlns:a="http://schemas.openxmlformats.org/drawingml/2006/main">
            <a:r>
              <a:t>- Proyecto 1/docs/01-vision-alcance-y-requisitos.md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1/docs/01-vision-alcance-y-requisitos.md</a:t>
            </a:r>
          </a:p>
          <a:p xmlns:a="http://schemas.openxmlformats.org/drawingml/2006/main">
            <a:r>
              <a:t>- Proyecto 1/docs/04-agente-ia-y-atencion.md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1/docs/01-vision-alcance-y-requisitos.md</a:t>
            </a:r>
          </a:p>
          <a:p xmlns:a="http://schemas.openxmlformats.org/drawingml/2006/main">
            <a:r>
              <a:t>- Proyecto 1/docs/04-agente-ia-y-atencion.md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1/docs/02-arquitectura-de-referencia.md</a:t>
            </a:r>
          </a:p>
          <a:p xmlns:a="http://schemas.openxmlformats.org/drawingml/2006/main">
            <a:r>
              <a:t>- Proyecto 1/docs/03-dominio-y-datos.md</a:t>
            </a:r>
          </a:p>
          <a:p xmlns:a="http://schemas.openxmlformats.org/drawingml/2006/main">
            <a:r>
              <a:t>- Proyecto 1/docs/05-seguridad-operacion-y-calidad.md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1/docs/01-vision-alcance-y-requisitos.md</a:t>
            </a:r>
          </a:p>
          <a:p xmlns:a="http://schemas.openxmlformats.org/drawingml/2006/main">
            <a:r>
              <a:t>- Proyecto 1/docs/fase-1/01-definicion-proyecto-apt.md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1/docs/scrum/README.md</a:t>
            </a:r>
          </a:p>
          <a:p xmlns:a="http://schemas.openxmlformats.org/drawingml/2006/main">
            <a:r>
              <a:t>- Proyecto 1/docs/fase-1/01-definicion-proyecto-apt.md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1/docs/scrum/product-backlog.md</a:t>
            </a:r>
          </a:p>
          <a:p xmlns:a="http://schemas.openxmlformats.org/drawingml/2006/main">
            <a:r>
              <a:t>- Proyecto 1/planillas/04_plan_fase_1_inmogest_ia.xlsx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- 2026.02_Cronograma_Capstone_PTY4614.xlsx</a:t>
            </a:r>
          </a:p>
          <a:p xmlns:a="http://schemas.openxmlformats.org/drawingml/2006/main">
            <a:r>
              <a:t>- Proyecto 1/docs/scrum/roadmap.md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1/docs/04-agente-ia-y-atencion.md</a:t>
            </a:r>
          </a:p>
          <a:p xmlns:a="http://schemas.openxmlformats.org/drawingml/2006/main">
            <a:r>
              <a:t>- Proyecto 1/docs/05-seguridad-operacion-y-calidad.md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1/docs/fase-1/02-trazabilidad-rubrica.md</a:t>
            </a:r>
          </a:p>
          <a:p xmlns:a="http://schemas.openxmlformats.org/drawingml/2006/main">
            <a:r>
              <a:t>- Proyecto 1/planillas/04_plan_fase_1_inmogest_ia.xlsx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1/docs/fase-1/00-checklist-fase-1.md</a:t>
            </a:r>
          </a:p>
          <a:p xmlns:a="http://schemas.openxmlformats.org/drawingml/2006/main">
            <a:r>
              <a:t>- Proyecto 1/docs/fase-1/01-definicion-proyecto-apt.md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393a5c96048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470479fe9a4103" /><Relationship Type="http://schemas.openxmlformats.org/officeDocument/2006/relationships/slideLayout" Target="/ppt/slideLayouts/slideLayout1.xml" Id="Rb163241b347e49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3241b347e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5063442dd44e4" /><Relationship Type="http://schemas.openxmlformats.org/officeDocument/2006/relationships/notesSlide" Target="/ppt/notesSlides/notesSlide1.xml" Id="R82120cae10d745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578fe299945a5" /><Relationship Type="http://schemas.openxmlformats.org/officeDocument/2006/relationships/notesSlide" Target="/ppt/notesSlides/notesSlide2.xml" Id="Re7ae63071a55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d35b8355446cb" /><Relationship Type="http://schemas.openxmlformats.org/officeDocument/2006/relationships/notesSlide" Target="/ppt/notesSlides/notesSlide3.xml" Id="R54ce3561735b47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f7fe116eb470a" /><Relationship Type="http://schemas.openxmlformats.org/officeDocument/2006/relationships/notesSlide" Target="/ppt/notesSlides/notesSlide4.xml" Id="R1f57e021f22547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5fc87915c4431" /><Relationship Type="http://schemas.openxmlformats.org/officeDocument/2006/relationships/notesSlide" Target="/ppt/notesSlides/notesSlide5.xml" Id="R4051c6439b19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ca60071df4c4d" /><Relationship Type="http://schemas.openxmlformats.org/officeDocument/2006/relationships/notesSlide" Target="/ppt/notesSlides/notesSlide6.xml" Id="Rb105d9ac8dff4c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ec70a21054dec" /><Relationship Type="http://schemas.openxmlformats.org/officeDocument/2006/relationships/notesSlide" Target="/ppt/notesSlides/notesSlide7.xml" Id="R23a007ee6656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c1f22837d4619" /><Relationship Type="http://schemas.openxmlformats.org/officeDocument/2006/relationships/notesSlide" Target="/ppt/notesSlides/notesSlide8.xml" Id="Rd7435414e82a47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7a7c9cf224d53" /><Relationship Type="http://schemas.openxmlformats.org/officeDocument/2006/relationships/notesSlide" Target="/ppt/notesSlides/notesSlide9.xml" Id="R2579f77178274c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91c20a4cf403e" /><Relationship Type="http://schemas.openxmlformats.org/officeDocument/2006/relationships/notesSlide" Target="/ppt/notesSlides/notesSlide10.xml" Id="R76d09cdb1391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48fd0e0244159" /><Relationship Type="http://schemas.openxmlformats.org/officeDocument/2006/relationships/notesSlide" Target="/ppt/notesSlides/notesSlide11.xml" Id="R8a077cd8cd604c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3ea3cded14ed6" /><Relationship Type="http://schemas.openxmlformats.org/officeDocument/2006/relationships/notesSlide" Target="/ppt/notesSlides/notesSlide12.xml" Id="R5c37b1af5ec947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vy8pu2i">
            <a:extLst xmlns:a="http://schemas.openxmlformats.org/drawingml/2006/main">
              <a:ext uri="{FF2B5EF4-FFF2-40B4-BE49-F238E27FC236}">
                <a16:creationId xmlns:a16="http://schemas.microsoft.com/office/drawing/2014/main" id="{9381F863-46B7-4D77-811A-A0492FC0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PROYECTO APT · FASE 1</a:t>
            </a:r>
          </a:p>
        </p:txBody>
      </p:sp>
      <p:sp>
        <p:nvSpPr>
          <p:cNvPr id="2" name="text-bgns9lg">
            <a:extLst xmlns:a="http://schemas.openxmlformats.org/drawingml/2006/main">
              <a:ext uri="{FF2B5EF4-FFF2-40B4-BE49-F238E27FC236}">
                <a16:creationId xmlns:a16="http://schemas.microsoft.com/office/drawing/2014/main" id="{8004C2C9-220B-4725-B1C5-DEAA7192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1728"/>
                </a:solidFill>
              </a:defRPr>
            </a:pPr>
            <a:r>
              <a:rPr sz="5400" b="1">
                <a:solidFill>
                  <a:srgbClr val="0B1728"/>
                </a:solidFill>
              </a:rPr>
              <a:t>InmoGest IA</a:t>
            </a:r>
          </a:p>
        </p:txBody>
      </p:sp>
      <p:sp>
        <p:nvSpPr>
          <p:cNvPr id="3" name="text-wxwrqxq">
            <a:extLst xmlns:a="http://schemas.openxmlformats.org/drawingml/2006/main">
              <a:ext uri="{FF2B5EF4-FFF2-40B4-BE49-F238E27FC236}">
                <a16:creationId xmlns:a16="http://schemas.microsoft.com/office/drawing/2014/main" id="{2C441167-CE63-46A1-9B3C-F2E5A45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06D"/>
                </a:solidFill>
              </a:defRPr>
            </a:pPr>
            <a:r>
              <a:rPr sz="2400" b="0">
                <a:solidFill>
                  <a:srgbClr val="52606D"/>
                </a:solidFill>
              </a:rPr>
              <a:t>Gestión inmobiliaria, CRM y atención inteligente en una sola plataforma</a:t>
            </a:r>
          </a:p>
        </p:txBody>
      </p:sp>
      <p:sp>
        <p:nvSpPr>
          <p:cNvPr id="4" name="box-jyo4qr5">
            <a:extLst xmlns:a="http://schemas.openxmlformats.org/drawingml/2006/main">
              <a:ext uri="{FF2B5EF4-FFF2-40B4-BE49-F238E27FC236}">
                <a16:creationId xmlns:a16="http://schemas.microsoft.com/office/drawing/2014/main" id="{6CDC72B7-B889-474C-AB38-FF2697BA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5300"/>
            <a:ext cx="2095500" cy="5286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box-2hllgny">
            <a:extLst xmlns:a="http://schemas.openxmlformats.org/drawingml/2006/main">
              <a:ext uri="{FF2B5EF4-FFF2-40B4-BE49-F238E27FC236}">
                <a16:creationId xmlns:a16="http://schemas.microsoft.com/office/drawing/2014/main" id="{52B06E1E-7B62-4FBB-AB1B-8A84A309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763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text-02t511q">
            <a:extLst xmlns:a="http://schemas.openxmlformats.org/drawingml/2006/main">
              <a:ext uri="{FF2B5EF4-FFF2-40B4-BE49-F238E27FC236}">
                <a16:creationId xmlns:a16="http://schemas.microsoft.com/office/drawing/2014/main" id="{B1014134-E678-4084-AD65-D27CC301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2573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1728"/>
                </a:solidFill>
              </a:defRPr>
            </a:pPr>
            <a:r>
              <a:rPr sz="3150" b="1">
                <a:solidFill>
                  <a:srgbClr val="0B1728"/>
                </a:solidFill>
              </a:rPr>
              <a:t>IA</a:t>
            </a:r>
          </a:p>
        </p:txBody>
      </p:sp>
      <p:sp>
        <p:nvSpPr>
          <p:cNvPr id="7" name="text-yc4b90h">
            <a:extLst xmlns:a="http://schemas.openxmlformats.org/drawingml/2006/main">
              <a:ext uri="{FF2B5EF4-FFF2-40B4-BE49-F238E27FC236}">
                <a16:creationId xmlns:a16="http://schemas.microsoft.com/office/drawing/2014/main" id="{8790360A-4AAB-4C0B-A2C0-81DA9CEF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Joel López</a:t>
            </a:r>
          </a:p>
          <a:p xmlns:a="http://schemas.openxmlformats.org/drawingml/2006/main"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Agustín Sorolla</a:t>
            </a:r>
          </a:p>
          <a:p xmlns:a="http://schemas.openxmlformats.org/drawingml/2006/main"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Matías Martínez</a:t>
            </a:r>
          </a:p>
        </p:txBody>
      </p:sp>
      <p:sp>
        <p:nvSpPr>
          <p:cNvPr id="8" name="text-0uqjpwc">
            <a:extLst xmlns:a="http://schemas.openxmlformats.org/drawingml/2006/main">
              <a:ext uri="{FF2B5EF4-FFF2-40B4-BE49-F238E27FC236}">
                <a16:creationId xmlns:a16="http://schemas.microsoft.com/office/drawing/2014/main" id="{9E43657A-98C8-4B24-ADCC-A4606514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Ingeniería en Informática · Sede Plaza Vespucio · 2026</a:t>
            </a:r>
          </a:p>
        </p:txBody>
      </p:sp>
    </p:spTree>
    <p:extLst>
      <p:ext uri="{BB962C8B-B14F-4D97-AF65-F5344CB8AC3E}">
        <p14:creationId xmlns:p14="http://schemas.microsoft.com/office/powerpoint/2010/main" val="1923340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AF243B4-4FC3-48CF-BDC4-B0E561F0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La operación fragmentada hace perder tiempo, datos y oportunidades</a:t>
            </a:r>
          </a:p>
        </p:txBody>
      </p:sp>
      <p:sp>
        <p:nvSpPr>
          <p:cNvPr id="2" name="box-sh0bb5s">
            <a:extLst xmlns:a="http://schemas.openxmlformats.org/drawingml/2006/main">
              <a:ext uri="{FF2B5EF4-FFF2-40B4-BE49-F238E27FC236}">
                <a16:creationId xmlns:a16="http://schemas.microsoft.com/office/drawing/2014/main" id="{D120BF10-2871-4C02-BE88-DAADD27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t0uzhfp">
            <a:extLst xmlns:a="http://schemas.openxmlformats.org/drawingml/2006/main">
              <a:ext uri="{FF2B5EF4-FFF2-40B4-BE49-F238E27FC236}">
                <a16:creationId xmlns:a16="http://schemas.microsoft.com/office/drawing/2014/main" id="{204C9062-AFCA-43E2-B6BD-3E3A32B7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x38cuev">
            <a:extLst xmlns:a="http://schemas.openxmlformats.org/drawingml/2006/main">
              <a:ext uri="{FF2B5EF4-FFF2-40B4-BE49-F238E27FC236}">
                <a16:creationId xmlns:a16="http://schemas.microsoft.com/office/drawing/2014/main" id="{3F52F46B-5B08-4368-8208-0C5211F3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2</a:t>
            </a:r>
          </a:p>
        </p:txBody>
      </p:sp>
      <p:sp>
        <p:nvSpPr>
          <p:cNvPr id="5" name="text-k669eh5">
            <a:extLst xmlns:a="http://schemas.openxmlformats.org/drawingml/2006/main">
              <a:ext uri="{FF2B5EF4-FFF2-40B4-BE49-F238E27FC236}">
                <a16:creationId xmlns:a16="http://schemas.microsoft.com/office/drawing/2014/main" id="{F30FF978-F78A-4B6D-90ED-74970743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Estado actual</a:t>
            </a:r>
          </a:p>
        </p:txBody>
      </p:sp>
      <p:sp>
        <p:nvSpPr>
          <p:cNvPr id="6" name="text-9jlbgwm">
            <a:extLst xmlns:a="http://schemas.openxmlformats.org/drawingml/2006/main">
              <a:ext uri="{FF2B5EF4-FFF2-40B4-BE49-F238E27FC236}">
                <a16:creationId xmlns:a16="http://schemas.microsoft.com/office/drawing/2014/main" id="{B133D336-915C-47C5-A184-39F1774F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728"/>
                </a:solidFill>
              </a:defRPr>
            </a:pPr>
            <a:r>
              <a:rPr sz="1875" b="0">
                <a:solidFill>
                  <a:srgbClr val="0B1728"/>
                </a:solidFill>
              </a:rPr>
              <a:t>Planillas separadas</a:t>
            </a:r>
          </a:p>
          <a:p xmlns:a="http://schemas.openxmlformats.org/drawingml/2006/main">
            <a:pPr algn="l">
              <a:defRPr sz="1875" b="0">
                <a:solidFill>
                  <a:srgbClr val="0B1728"/>
                </a:solidFill>
              </a:defRPr>
            </a:pPr>
            <a:r>
              <a:rPr sz="1875" b="0">
                <a:solidFill>
                  <a:srgbClr val="0B1728"/>
                </a:solidFill>
              </a:rPr>
              <a:t>Mensajería y correo</a:t>
            </a:r>
          </a:p>
          <a:p xmlns:a="http://schemas.openxmlformats.org/drawingml/2006/main">
            <a:pPr algn="l">
              <a:defRPr sz="1875" b="0">
                <a:solidFill>
                  <a:srgbClr val="0B1728"/>
                </a:solidFill>
              </a:defRPr>
            </a:pPr>
            <a:r>
              <a:rPr sz="1875" b="0">
                <a:solidFill>
                  <a:srgbClr val="0B1728"/>
                </a:solidFill>
              </a:rPr>
              <a:t>Publicación manual</a:t>
            </a:r>
          </a:p>
          <a:p xmlns:a="http://schemas.openxmlformats.org/drawingml/2006/main">
            <a:pPr algn="l">
              <a:defRPr sz="1875" b="0">
                <a:solidFill>
                  <a:srgbClr val="0B1728"/>
                </a:solidFill>
              </a:defRPr>
            </a:pPr>
            <a:r>
              <a:rPr sz="1875" b="0">
                <a:solidFill>
                  <a:srgbClr val="0B1728"/>
                </a:solidFill>
              </a:rPr>
              <a:t>Seguimiento informal</a:t>
            </a:r>
          </a:p>
        </p:txBody>
      </p:sp>
      <p:sp>
        <p:nvSpPr>
          <p:cNvPr id="7" name="text-fqhgfjb">
            <a:extLst xmlns:a="http://schemas.openxmlformats.org/drawingml/2006/main">
              <a:ext uri="{FF2B5EF4-FFF2-40B4-BE49-F238E27FC236}">
                <a16:creationId xmlns:a16="http://schemas.microsoft.com/office/drawing/2014/main" id="{1D7D8D85-212F-48B6-B3D8-A74D828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8" name="box-o3ixx02">
            <a:extLst xmlns:a="http://schemas.openxmlformats.org/drawingml/2006/main">
              <a:ext uri="{FF2B5EF4-FFF2-40B4-BE49-F238E27FC236}">
                <a16:creationId xmlns:a16="http://schemas.microsoft.com/office/drawing/2014/main" id="{112B6E10-DFB5-4A81-BF67-F087512C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4292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n2ljl1y">
            <a:extLst xmlns:a="http://schemas.openxmlformats.org/drawingml/2006/main">
              <a:ext uri="{FF2B5EF4-FFF2-40B4-BE49-F238E27FC236}">
                <a16:creationId xmlns:a16="http://schemas.microsoft.com/office/drawing/2014/main" id="{B67D63D2-63F8-483E-80BA-46362407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9070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Consecuencia operativa</a:t>
            </a:r>
          </a:p>
        </p:txBody>
      </p:sp>
      <p:sp>
        <p:nvSpPr>
          <p:cNvPr id="10" name="text-ruw7beg">
            <a:extLst xmlns:a="http://schemas.openxmlformats.org/drawingml/2006/main">
              <a:ext uri="{FF2B5EF4-FFF2-40B4-BE49-F238E27FC236}">
                <a16:creationId xmlns:a16="http://schemas.microsoft.com/office/drawing/2014/main" id="{942099EE-F2EE-41AF-941A-0FCF39E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4972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Duplicidad de información, propiedades desactualizadas, respuestas tardías y leads sin trazabilidad.</a:t>
            </a:r>
          </a:p>
        </p:txBody>
      </p:sp>
      <p:sp>
        <p:nvSpPr>
          <p:cNvPr id="11" name="box-4muvybl">
            <a:extLst xmlns:a="http://schemas.openxmlformats.org/drawingml/2006/main">
              <a:ext uri="{FF2B5EF4-FFF2-40B4-BE49-F238E27FC236}">
                <a16:creationId xmlns:a16="http://schemas.microsoft.com/office/drawing/2014/main" id="{0B6D057B-3058-468B-864D-31810AFF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54292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gffzg0e">
            <a:extLst xmlns:a="http://schemas.openxmlformats.org/drawingml/2006/main">
              <a:ext uri="{FF2B5EF4-FFF2-40B4-BE49-F238E27FC236}">
                <a16:creationId xmlns:a16="http://schemas.microsoft.com/office/drawing/2014/main" id="{784604B7-3307-43E6-9416-2205674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Impacto de negocio</a:t>
            </a:r>
          </a:p>
        </p:txBody>
      </p:sp>
      <p:sp>
        <p:nvSpPr>
          <p:cNvPr id="13" name="text-jcvtttl">
            <a:extLst xmlns:a="http://schemas.openxmlformats.org/drawingml/2006/main">
              <a:ext uri="{FF2B5EF4-FFF2-40B4-BE49-F238E27FC236}">
                <a16:creationId xmlns:a16="http://schemas.microsoft.com/office/drawing/2014/main" id="{7E1DC988-9410-411A-9E79-0E31C911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4972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Menor capacidad de conversión, decisiones sin evidencia y una experiencia inconsistente para clientes y corredores.</a:t>
            </a:r>
          </a:p>
        </p:txBody>
      </p:sp>
    </p:spTree>
    <p:extLst>
      <p:ext uri="{BB962C8B-B14F-4D97-AF65-F5344CB8AC3E}">
        <p14:creationId xmlns:p14="http://schemas.microsoft.com/office/powerpoint/2010/main" val="1985694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8F011ED-F799-4CA6-B6E9-2E70C29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Una fuente única conecta la gestión interna con la experiencia del cliente</a:t>
            </a:r>
          </a:p>
        </p:txBody>
      </p:sp>
      <p:sp>
        <p:nvSpPr>
          <p:cNvPr id="2" name="box-85gorkv">
            <a:extLst xmlns:a="http://schemas.openxmlformats.org/drawingml/2006/main">
              <a:ext uri="{FF2B5EF4-FFF2-40B4-BE49-F238E27FC236}">
                <a16:creationId xmlns:a16="http://schemas.microsoft.com/office/drawing/2014/main" id="{B3A39A00-BCCC-469C-B282-AA235FE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geft9ey">
            <a:extLst xmlns:a="http://schemas.openxmlformats.org/drawingml/2006/main">
              <a:ext uri="{FF2B5EF4-FFF2-40B4-BE49-F238E27FC236}">
                <a16:creationId xmlns:a16="http://schemas.microsoft.com/office/drawing/2014/main" id="{ECAD47E4-EBB3-404C-9C3C-9F9C4CFD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3yk41n9">
            <a:extLst xmlns:a="http://schemas.openxmlformats.org/drawingml/2006/main">
              <a:ext uri="{FF2B5EF4-FFF2-40B4-BE49-F238E27FC236}">
                <a16:creationId xmlns:a16="http://schemas.microsoft.com/office/drawing/2014/main" id="{32A76992-0A5A-4208-81F7-9AE279C2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3</a:t>
            </a:r>
          </a:p>
        </p:txBody>
      </p:sp>
      <p:sp>
        <p:nvSpPr>
          <p:cNvPr id="5" name="box-vlma72j">
            <a:extLst xmlns:a="http://schemas.openxmlformats.org/drawingml/2006/main">
              <a:ext uri="{FF2B5EF4-FFF2-40B4-BE49-F238E27FC236}">
                <a16:creationId xmlns:a16="http://schemas.microsoft.com/office/drawing/2014/main" id="{3362C075-FBA5-46FE-BC1D-CCAF29B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52197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bpvheip">
            <a:extLst xmlns:a="http://schemas.openxmlformats.org/drawingml/2006/main">
              <a:ext uri="{FF2B5EF4-FFF2-40B4-BE49-F238E27FC236}">
                <a16:creationId xmlns:a16="http://schemas.microsoft.com/office/drawing/2014/main" id="{E1E04484-BAE4-4149-AB42-71644CC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Propiedades</a:t>
            </a:r>
          </a:p>
        </p:txBody>
      </p:sp>
      <p:sp>
        <p:nvSpPr>
          <p:cNvPr id="7" name="text-mghlfbk">
            <a:extLst xmlns:a="http://schemas.openxmlformats.org/drawingml/2006/main">
              <a:ext uri="{FF2B5EF4-FFF2-40B4-BE49-F238E27FC236}">
                <a16:creationId xmlns:a16="http://schemas.microsoft.com/office/drawing/2014/main" id="{5E059D4F-7E50-46F0-99EE-AD77077A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Ficha única, estado, precio, ubicación, multimedia y publicación controlada.</a:t>
            </a:r>
          </a:p>
        </p:txBody>
      </p:sp>
      <p:sp>
        <p:nvSpPr>
          <p:cNvPr id="8" name="box-w2aghoj">
            <a:extLst xmlns:a="http://schemas.openxmlformats.org/drawingml/2006/main">
              <a:ext uri="{FF2B5EF4-FFF2-40B4-BE49-F238E27FC236}">
                <a16:creationId xmlns:a16="http://schemas.microsoft.com/office/drawing/2014/main" id="{948679DC-BCDF-4ABA-93AD-92E5B08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52578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5agkh38">
            <a:extLst xmlns:a="http://schemas.openxmlformats.org/drawingml/2006/main">
              <a:ext uri="{FF2B5EF4-FFF2-40B4-BE49-F238E27FC236}">
                <a16:creationId xmlns:a16="http://schemas.microsoft.com/office/drawing/2014/main" id="{1FBFF9EF-6789-4F18-BA0E-BF934516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CRM</a:t>
            </a:r>
          </a:p>
        </p:txBody>
      </p:sp>
      <p:sp>
        <p:nvSpPr>
          <p:cNvPr id="10" name="text-hrh1vx4">
            <a:extLst xmlns:a="http://schemas.openxmlformats.org/drawingml/2006/main">
              <a:ext uri="{FF2B5EF4-FFF2-40B4-BE49-F238E27FC236}">
                <a16:creationId xmlns:a16="http://schemas.microsoft.com/office/drawing/2014/main" id="{B4B72A0B-698D-4CE2-8464-B83C841F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Leads, contactos, actividades, oportunidades y trazabilidad comercial.</a:t>
            </a:r>
          </a:p>
        </p:txBody>
      </p:sp>
      <p:sp>
        <p:nvSpPr>
          <p:cNvPr id="11" name="box-9w8ura9">
            <a:extLst xmlns:a="http://schemas.openxmlformats.org/drawingml/2006/main">
              <a:ext uri="{FF2B5EF4-FFF2-40B4-BE49-F238E27FC236}">
                <a16:creationId xmlns:a16="http://schemas.microsoft.com/office/drawing/2014/main" id="{2C521426-EBEE-4BA6-BE9D-703B616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52197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pyp0dbz">
            <a:extLst xmlns:a="http://schemas.openxmlformats.org/drawingml/2006/main">
              <a:ext uri="{FF2B5EF4-FFF2-40B4-BE49-F238E27FC236}">
                <a16:creationId xmlns:a16="http://schemas.microsoft.com/office/drawing/2014/main" id="{E5B9F6A2-0352-49F2-A485-918CFD9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Vitrina web</a:t>
            </a:r>
          </a:p>
        </p:txBody>
      </p:sp>
      <p:sp>
        <p:nvSpPr>
          <p:cNvPr id="13" name="text-b2grsbg">
            <a:extLst xmlns:a="http://schemas.openxmlformats.org/drawingml/2006/main">
              <a:ext uri="{FF2B5EF4-FFF2-40B4-BE49-F238E27FC236}">
                <a16:creationId xmlns:a16="http://schemas.microsoft.com/office/drawing/2014/main" id="{E1256E92-DA37-4F5D-9B02-4ACF14E7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Catálogo público sincronizado con filtros, detalle y formularios de consulta.</a:t>
            </a:r>
          </a:p>
        </p:txBody>
      </p:sp>
      <p:sp>
        <p:nvSpPr>
          <p:cNvPr id="14" name="box-qag5plr">
            <a:extLst xmlns:a="http://schemas.openxmlformats.org/drawingml/2006/main">
              <a:ext uri="{FF2B5EF4-FFF2-40B4-BE49-F238E27FC236}">
                <a16:creationId xmlns:a16="http://schemas.microsoft.com/office/drawing/2014/main" id="{6F16217C-BE5A-45A1-A8E8-E45ED6A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52578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1yxshl6">
            <a:extLst xmlns:a="http://schemas.openxmlformats.org/drawingml/2006/main">
              <a:ext uri="{FF2B5EF4-FFF2-40B4-BE49-F238E27FC236}">
                <a16:creationId xmlns:a16="http://schemas.microsoft.com/office/drawing/2014/main" id="{318D6591-5269-4D60-A280-867B40B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Agente IA</a:t>
            </a:r>
          </a:p>
        </p:txBody>
      </p:sp>
      <p:sp>
        <p:nvSpPr>
          <p:cNvPr id="16" name="text-dkntuuo">
            <a:extLst xmlns:a="http://schemas.openxmlformats.org/drawingml/2006/main">
              <a:ext uri="{FF2B5EF4-FFF2-40B4-BE49-F238E27FC236}">
                <a16:creationId xmlns:a16="http://schemas.microsoft.com/office/drawing/2014/main" id="{DD91F7D8-67A4-4735-B399-1EB2C4E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Atención inicial acotada, consulta de datos válidos y derivación a una persona.</a:t>
            </a:r>
          </a:p>
        </p:txBody>
      </p:sp>
    </p:spTree>
    <p:extLst>
      <p:ext uri="{BB962C8B-B14F-4D97-AF65-F5344CB8AC3E}">
        <p14:creationId xmlns:p14="http://schemas.microsoft.com/office/powerpoint/2010/main" val="1501537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8C9063C-2554-4E7F-97BA-84D2C9BD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Cada consulta queda conectada desde la vitrina hasta el seguimiento comercial</a:t>
            </a:r>
          </a:p>
        </p:txBody>
      </p:sp>
      <p:sp>
        <p:nvSpPr>
          <p:cNvPr id="2" name="box-u8xumda">
            <a:extLst xmlns:a="http://schemas.openxmlformats.org/drawingml/2006/main">
              <a:ext uri="{FF2B5EF4-FFF2-40B4-BE49-F238E27FC236}">
                <a16:creationId xmlns:a16="http://schemas.microsoft.com/office/drawing/2014/main" id="{1562EFC6-7C6C-40AA-B299-56641CB3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mhac2l1">
            <a:extLst xmlns:a="http://schemas.openxmlformats.org/drawingml/2006/main">
              <a:ext uri="{FF2B5EF4-FFF2-40B4-BE49-F238E27FC236}">
                <a16:creationId xmlns:a16="http://schemas.microsoft.com/office/drawing/2014/main" id="{3E49602E-BF93-402C-9CC3-FCD9F575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10sxuxu">
            <a:extLst xmlns:a="http://schemas.openxmlformats.org/drawingml/2006/main">
              <a:ext uri="{FF2B5EF4-FFF2-40B4-BE49-F238E27FC236}">
                <a16:creationId xmlns:a16="http://schemas.microsoft.com/office/drawing/2014/main" id="{05911544-443D-49AE-A298-24C41767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4</a:t>
            </a:r>
          </a:p>
        </p:txBody>
      </p:sp>
      <p:sp>
        <p:nvSpPr>
          <p:cNvPr id="5" name="box-xjzjub2">
            <a:extLst xmlns:a="http://schemas.openxmlformats.org/drawingml/2006/main">
              <a:ext uri="{FF2B5EF4-FFF2-40B4-BE49-F238E27FC236}">
                <a16:creationId xmlns:a16="http://schemas.microsoft.com/office/drawing/2014/main" id="{D7D9C67D-BCC8-4970-AEDC-59D8054A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847850" cy="19812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hjja1sz">
            <a:extLst xmlns:a="http://schemas.openxmlformats.org/drawingml/2006/main">
              <a:ext uri="{FF2B5EF4-FFF2-40B4-BE49-F238E27FC236}">
                <a16:creationId xmlns:a16="http://schemas.microsoft.com/office/drawing/2014/main" id="{8C62F5D0-C9FD-4FF8-B4F4-F295948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text-gbd2qtx">
            <a:extLst xmlns:a="http://schemas.openxmlformats.org/drawingml/2006/main">
              <a:ext uri="{FF2B5EF4-FFF2-40B4-BE49-F238E27FC236}">
                <a16:creationId xmlns:a16="http://schemas.microsoft.com/office/drawing/2014/main" id="{665AC695-EE1D-4A65-A8D3-BFAE7B12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Cliente</a:t>
            </a:r>
          </a:p>
        </p:txBody>
      </p:sp>
      <p:sp>
        <p:nvSpPr>
          <p:cNvPr id="8" name="text-dfefo3o">
            <a:extLst xmlns:a="http://schemas.openxmlformats.org/drawingml/2006/main">
              <a:ext uri="{FF2B5EF4-FFF2-40B4-BE49-F238E27FC236}">
                <a16:creationId xmlns:a16="http://schemas.microsoft.com/office/drawing/2014/main" id="{A18C0578-6ADE-482A-856C-97D4C83B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Explora una propiedad</a:t>
            </a:r>
          </a:p>
        </p:txBody>
      </p:sp>
      <p:sp>
        <p:nvSpPr>
          <p:cNvPr id="9" name="text-y7rzhqq">
            <a:extLst xmlns:a="http://schemas.openxmlformats.org/drawingml/2006/main">
              <a:ext uri="{FF2B5EF4-FFF2-40B4-BE49-F238E27FC236}">
                <a16:creationId xmlns:a16="http://schemas.microsoft.com/office/drawing/2014/main" id="{BE1023BE-581C-4499-93EB-67A8B8C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0" name="box-hq1j7j2">
            <a:extLst xmlns:a="http://schemas.openxmlformats.org/drawingml/2006/main">
              <a:ext uri="{FF2B5EF4-FFF2-40B4-BE49-F238E27FC236}">
                <a16:creationId xmlns:a16="http://schemas.microsoft.com/office/drawing/2014/main" id="{07A4E00A-E18A-43B2-9482-6DFB5C96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847850" cy="19812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9xu30n6">
            <a:extLst xmlns:a="http://schemas.openxmlformats.org/drawingml/2006/main">
              <a:ext uri="{FF2B5EF4-FFF2-40B4-BE49-F238E27FC236}">
                <a16:creationId xmlns:a16="http://schemas.microsoft.com/office/drawing/2014/main" id="{219308C1-32A8-4798-ACE4-3D9950C9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2" name="text-07zjbic">
            <a:extLst xmlns:a="http://schemas.openxmlformats.org/drawingml/2006/main">
              <a:ext uri="{FF2B5EF4-FFF2-40B4-BE49-F238E27FC236}">
                <a16:creationId xmlns:a16="http://schemas.microsoft.com/office/drawing/2014/main" id="{4BB8AB3B-17D6-49AA-ADD9-CB15C32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Vitrina</a:t>
            </a:r>
          </a:p>
        </p:txBody>
      </p:sp>
      <p:sp>
        <p:nvSpPr>
          <p:cNvPr id="13" name="text-sohe4bd">
            <a:extLst xmlns:a="http://schemas.openxmlformats.org/drawingml/2006/main">
              <a:ext uri="{FF2B5EF4-FFF2-40B4-BE49-F238E27FC236}">
                <a16:creationId xmlns:a16="http://schemas.microsoft.com/office/drawing/2014/main" id="{A3331B0B-0C72-497D-B9AC-7FF9EA3C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480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Captura la consulta</a:t>
            </a:r>
          </a:p>
        </p:txBody>
      </p:sp>
      <p:sp>
        <p:nvSpPr>
          <p:cNvPr id="14" name="text-fluelc9">
            <a:extLst xmlns:a="http://schemas.openxmlformats.org/drawingml/2006/main">
              <a:ext uri="{FF2B5EF4-FFF2-40B4-BE49-F238E27FC236}">
                <a16:creationId xmlns:a16="http://schemas.microsoft.com/office/drawing/2014/main" id="{0864D247-1D3F-4E2E-B5BB-78C3648B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5" name="box-sp4b0t0">
            <a:extLst xmlns:a="http://schemas.openxmlformats.org/drawingml/2006/main">
              <a:ext uri="{FF2B5EF4-FFF2-40B4-BE49-F238E27FC236}">
                <a16:creationId xmlns:a16="http://schemas.microsoft.com/office/drawing/2014/main" id="{CBB23BD4-F74A-4374-AF07-AEBBBAA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1847850" cy="19812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6" name="text-rpiusfs">
            <a:extLst xmlns:a="http://schemas.openxmlformats.org/drawingml/2006/main">
              <a:ext uri="{FF2B5EF4-FFF2-40B4-BE49-F238E27FC236}">
                <a16:creationId xmlns:a16="http://schemas.microsoft.com/office/drawing/2014/main" id="{E0131814-8DDD-4F6C-BF41-3D55E054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7" name="text-n8beswe">
            <a:extLst xmlns:a="http://schemas.openxmlformats.org/drawingml/2006/main">
              <a:ext uri="{FF2B5EF4-FFF2-40B4-BE49-F238E27FC236}">
                <a16:creationId xmlns:a16="http://schemas.microsoft.com/office/drawing/2014/main" id="{DFE29E5E-D31B-4659-9B3C-8C0E6869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CRM</a:t>
            </a:r>
          </a:p>
        </p:txBody>
      </p:sp>
      <p:sp>
        <p:nvSpPr>
          <p:cNvPr id="18" name="text-oohx3ro">
            <a:extLst xmlns:a="http://schemas.openxmlformats.org/drawingml/2006/main">
              <a:ext uri="{FF2B5EF4-FFF2-40B4-BE49-F238E27FC236}">
                <a16:creationId xmlns:a16="http://schemas.microsoft.com/office/drawing/2014/main" id="{673C4873-6434-4D29-8CE9-C537917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Crea lead y actividad</a:t>
            </a:r>
          </a:p>
        </p:txBody>
      </p:sp>
      <p:sp>
        <p:nvSpPr>
          <p:cNvPr id="19" name="text-wmw35d6">
            <a:extLst xmlns:a="http://schemas.openxmlformats.org/drawingml/2006/main">
              <a:ext uri="{FF2B5EF4-FFF2-40B4-BE49-F238E27FC236}">
                <a16:creationId xmlns:a16="http://schemas.microsoft.com/office/drawing/2014/main" id="{9D672BA7-AA83-407A-A073-9A196023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0" name="box-0wzwomn">
            <a:extLst xmlns:a="http://schemas.openxmlformats.org/drawingml/2006/main">
              <a:ext uri="{FF2B5EF4-FFF2-40B4-BE49-F238E27FC236}">
                <a16:creationId xmlns:a16="http://schemas.microsoft.com/office/drawing/2014/main" id="{4E05C631-DBAD-439A-9AFF-00462D55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1847850" cy="19812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5cgja2t">
            <a:extLst xmlns:a="http://schemas.openxmlformats.org/drawingml/2006/main">
              <a:ext uri="{FF2B5EF4-FFF2-40B4-BE49-F238E27FC236}">
                <a16:creationId xmlns:a16="http://schemas.microsoft.com/office/drawing/2014/main" id="{A2A24A26-905E-4A18-880A-AA9FFD84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2" name="text-p647t7t">
            <a:extLst xmlns:a="http://schemas.openxmlformats.org/drawingml/2006/main">
              <a:ext uri="{FF2B5EF4-FFF2-40B4-BE49-F238E27FC236}">
                <a16:creationId xmlns:a16="http://schemas.microsoft.com/office/drawing/2014/main" id="{DDDEF330-95CD-4955-8104-B602F74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IA</a:t>
            </a:r>
          </a:p>
        </p:txBody>
      </p:sp>
      <p:sp>
        <p:nvSpPr>
          <p:cNvPr id="23" name="text-okfouma">
            <a:extLst xmlns:a="http://schemas.openxmlformats.org/drawingml/2006/main">
              <a:ext uri="{FF2B5EF4-FFF2-40B4-BE49-F238E27FC236}">
                <a16:creationId xmlns:a16="http://schemas.microsoft.com/office/drawing/2014/main" id="{A5DE9D0F-1EBC-4267-9A71-D75887A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Responde o deriva</a:t>
            </a:r>
          </a:p>
        </p:txBody>
      </p:sp>
      <p:sp>
        <p:nvSpPr>
          <p:cNvPr id="24" name="text-8i1pdsr">
            <a:extLst xmlns:a="http://schemas.openxmlformats.org/drawingml/2006/main">
              <a:ext uri="{FF2B5EF4-FFF2-40B4-BE49-F238E27FC236}">
                <a16:creationId xmlns:a16="http://schemas.microsoft.com/office/drawing/2014/main" id="{7C8C767E-753B-4CDC-997E-4F5CFC5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5" name="box-9p6u6ry">
            <a:extLst xmlns:a="http://schemas.openxmlformats.org/drawingml/2006/main">
              <a:ext uri="{FF2B5EF4-FFF2-40B4-BE49-F238E27FC236}">
                <a16:creationId xmlns:a16="http://schemas.microsoft.com/office/drawing/2014/main" id="{368BA511-E673-4B02-BE0F-A202BE9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847850" cy="19812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xv9qcjr">
            <a:extLst xmlns:a="http://schemas.openxmlformats.org/drawingml/2006/main">
              <a:ext uri="{FF2B5EF4-FFF2-40B4-BE49-F238E27FC236}">
                <a16:creationId xmlns:a16="http://schemas.microsoft.com/office/drawing/2014/main" id="{001B7E5C-BF08-4579-A0B5-7C90C53E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7" name="text-7ykzteg">
            <a:extLst xmlns:a="http://schemas.openxmlformats.org/drawingml/2006/main">
              <a:ext uri="{FF2B5EF4-FFF2-40B4-BE49-F238E27FC236}">
                <a16:creationId xmlns:a16="http://schemas.microsoft.com/office/drawing/2014/main" id="{7F22C5AE-4AF9-45A5-BDF1-A55759F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Corredor</a:t>
            </a:r>
          </a:p>
        </p:txBody>
      </p:sp>
      <p:sp>
        <p:nvSpPr>
          <p:cNvPr id="28" name="text-vy3skpy">
            <a:extLst xmlns:a="http://schemas.openxmlformats.org/drawingml/2006/main">
              <a:ext uri="{FF2B5EF4-FFF2-40B4-BE49-F238E27FC236}">
                <a16:creationId xmlns:a16="http://schemas.microsoft.com/office/drawing/2014/main" id="{02C668FE-6FE0-4425-85E4-8FDF38A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480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Gestiona y cierra</a:t>
            </a:r>
          </a:p>
        </p:txBody>
      </p:sp>
      <p:sp>
        <p:nvSpPr>
          <p:cNvPr id="29" name="text-eg2ocs9">
            <a:extLst xmlns:a="http://schemas.openxmlformats.org/drawingml/2006/main">
              <a:ext uri="{FF2B5EF4-FFF2-40B4-BE49-F238E27FC236}">
                <a16:creationId xmlns:a16="http://schemas.microsoft.com/office/drawing/2014/main" id="{B5F245F8-665E-4310-85F4-D70F4044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35B"/>
                </a:solidFill>
              </a:defRPr>
            </a:pPr>
            <a:r>
              <a:rPr sz="1725" b="1">
                <a:solidFill>
                  <a:srgbClr val="16835B"/>
                </a:solidFill>
              </a:rPr>
              <a:t>Resultado: información consistente, responsabilidad asignada y trazabilidad de extremo a extremo.</a:t>
            </a:r>
          </a:p>
        </p:txBody>
      </p:sp>
    </p:spTree>
    <p:extLst>
      <p:ext uri="{BB962C8B-B14F-4D97-AF65-F5344CB8AC3E}">
        <p14:creationId xmlns:p14="http://schemas.microsoft.com/office/powerpoint/2010/main" val="1820431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5498B00-4B6F-42B2-AA17-92F526F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La arquitectura separa canales, negocio, datos e infraestructura</a:t>
            </a:r>
          </a:p>
        </p:txBody>
      </p:sp>
      <p:sp>
        <p:nvSpPr>
          <p:cNvPr id="2" name="box-ssy1wzv">
            <a:extLst xmlns:a="http://schemas.openxmlformats.org/drawingml/2006/main">
              <a:ext uri="{FF2B5EF4-FFF2-40B4-BE49-F238E27FC236}">
                <a16:creationId xmlns:a16="http://schemas.microsoft.com/office/drawing/2014/main" id="{50A0CDF7-2EC6-4FD7-B895-4FC2D5BD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6lpbs9o">
            <a:extLst xmlns:a="http://schemas.openxmlformats.org/drawingml/2006/main">
              <a:ext uri="{FF2B5EF4-FFF2-40B4-BE49-F238E27FC236}">
                <a16:creationId xmlns:a16="http://schemas.microsoft.com/office/drawing/2014/main" id="{CEB2A33B-3780-4AF0-BB02-3896C223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e9tnryn">
            <a:extLst xmlns:a="http://schemas.openxmlformats.org/drawingml/2006/main">
              <a:ext uri="{FF2B5EF4-FFF2-40B4-BE49-F238E27FC236}">
                <a16:creationId xmlns:a16="http://schemas.microsoft.com/office/drawing/2014/main" id="{385635AD-A976-4FFD-BC82-308314C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5</a:t>
            </a:r>
          </a:p>
        </p:txBody>
      </p:sp>
      <p:sp>
        <p:nvSpPr>
          <p:cNvPr id="5" name="box-a8rznl2">
            <a:extLst xmlns:a="http://schemas.openxmlformats.org/drawingml/2006/main">
              <a:ext uri="{FF2B5EF4-FFF2-40B4-BE49-F238E27FC236}">
                <a16:creationId xmlns:a16="http://schemas.microsoft.com/office/drawing/2014/main" id="{51358073-FD21-4091-B9F5-6B4CF28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jsztqbw">
            <a:extLst xmlns:a="http://schemas.openxmlformats.org/drawingml/2006/main">
              <a:ext uri="{FF2B5EF4-FFF2-40B4-BE49-F238E27FC236}">
                <a16:creationId xmlns:a16="http://schemas.microsoft.com/office/drawing/2014/main" id="{A4AD9B9B-A5AD-4C08-B9A4-2F3EB80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Canales</a:t>
            </a:r>
          </a:p>
        </p:txBody>
      </p:sp>
      <p:sp>
        <p:nvSpPr>
          <p:cNvPr id="7" name="text-aljam3n">
            <a:extLst xmlns:a="http://schemas.openxmlformats.org/drawingml/2006/main">
              <a:ext uri="{FF2B5EF4-FFF2-40B4-BE49-F238E27FC236}">
                <a16:creationId xmlns:a16="http://schemas.microsoft.com/office/drawing/2014/main" id="{7DE9DCA4-8BBA-4959-AB73-42FA66F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383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728"/>
                </a:solidFill>
              </a:defRPr>
            </a:pPr>
            <a:r>
              <a:rPr sz="1575" b="0">
                <a:solidFill>
                  <a:srgbClr val="0B1728"/>
                </a:solidFill>
              </a:rPr>
              <a:t>Vitrina pública · CRM interno · Consola administrativa</a:t>
            </a:r>
          </a:p>
        </p:txBody>
      </p:sp>
      <p:sp>
        <p:nvSpPr>
          <p:cNvPr id="8" name="text-i1jxbrl">
            <a:extLst xmlns:a="http://schemas.openxmlformats.org/drawingml/2006/main">
              <a:ext uri="{FF2B5EF4-FFF2-40B4-BE49-F238E27FC236}">
                <a16:creationId xmlns:a16="http://schemas.microsoft.com/office/drawing/2014/main" id="{53C893E1-CA41-4463-AF7B-D915AC70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9" name="box-lzkpjaz">
            <a:extLst xmlns:a="http://schemas.openxmlformats.org/drawingml/2006/main">
              <a:ext uri="{FF2B5EF4-FFF2-40B4-BE49-F238E27FC236}">
                <a16:creationId xmlns:a16="http://schemas.microsoft.com/office/drawing/2014/main" id="{7F720CCB-CF85-4BF0-AA1A-C7A6F221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text-ydx1hbs">
            <a:extLst xmlns:a="http://schemas.openxmlformats.org/drawingml/2006/main">
              <a:ext uri="{FF2B5EF4-FFF2-40B4-BE49-F238E27FC236}">
                <a16:creationId xmlns:a16="http://schemas.microsoft.com/office/drawing/2014/main" id="{9412ED4F-46AB-4C41-A8C5-7B87F88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Aplicación</a:t>
            </a:r>
          </a:p>
        </p:txBody>
      </p:sp>
      <p:sp>
        <p:nvSpPr>
          <p:cNvPr id="11" name="text-v33kczq">
            <a:extLst xmlns:a="http://schemas.openxmlformats.org/drawingml/2006/main">
              <a:ext uri="{FF2B5EF4-FFF2-40B4-BE49-F238E27FC236}">
                <a16:creationId xmlns:a16="http://schemas.microsoft.com/office/drawing/2014/main" id="{E6F6D94A-8DAC-4202-8510-601AB97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728"/>
                </a:solidFill>
              </a:defRPr>
            </a:pPr>
            <a:r>
              <a:rPr sz="1575" b="0">
                <a:solidFill>
                  <a:srgbClr val="0B1728"/>
                </a:solidFill>
              </a:rPr>
              <a:t>Next.js / React · API REST NestJS · Adaptador de IA</a:t>
            </a:r>
          </a:p>
        </p:txBody>
      </p:sp>
      <p:sp>
        <p:nvSpPr>
          <p:cNvPr id="12" name="text-5dvi06d">
            <a:extLst xmlns:a="http://schemas.openxmlformats.org/drawingml/2006/main">
              <a:ext uri="{FF2B5EF4-FFF2-40B4-BE49-F238E27FC236}">
                <a16:creationId xmlns:a16="http://schemas.microsoft.com/office/drawing/2014/main" id="{BD973A8E-9DF8-48D7-BBCD-91EDE3A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13" name="box-71jys4o">
            <a:extLst xmlns:a="http://schemas.openxmlformats.org/drawingml/2006/main">
              <a:ext uri="{FF2B5EF4-FFF2-40B4-BE49-F238E27FC236}">
                <a16:creationId xmlns:a16="http://schemas.microsoft.com/office/drawing/2014/main" id="{1AF50317-00AC-44E0-969A-CD02E4BA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xl1ism9">
            <a:extLst xmlns:a="http://schemas.openxmlformats.org/drawingml/2006/main">
              <a:ext uri="{FF2B5EF4-FFF2-40B4-BE49-F238E27FC236}">
                <a16:creationId xmlns:a16="http://schemas.microsoft.com/office/drawing/2014/main" id="{5529D73C-A3C7-40CE-8F79-5ED5504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Datos</a:t>
            </a:r>
          </a:p>
        </p:txBody>
      </p:sp>
      <p:sp>
        <p:nvSpPr>
          <p:cNvPr id="15" name="text-4unm3jp">
            <a:extLst xmlns:a="http://schemas.openxmlformats.org/drawingml/2006/main">
              <a:ext uri="{FF2B5EF4-FFF2-40B4-BE49-F238E27FC236}">
                <a16:creationId xmlns:a16="http://schemas.microsoft.com/office/drawing/2014/main" id="{5E8B6F7E-060D-4036-9D00-266FCA6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576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728"/>
                </a:solidFill>
              </a:defRPr>
            </a:pPr>
            <a:r>
              <a:rPr sz="1575" b="0">
                <a:solidFill>
                  <a:srgbClr val="0B1728"/>
                </a:solidFill>
              </a:rPr>
              <a:t>PostgreSQL + Prisma · Archivos S3 compatibles · Auditoría</a:t>
            </a:r>
          </a:p>
        </p:txBody>
      </p:sp>
      <p:sp>
        <p:nvSpPr>
          <p:cNvPr id="16" name="text-4egckyv">
            <a:extLst xmlns:a="http://schemas.openxmlformats.org/drawingml/2006/main">
              <a:ext uri="{FF2B5EF4-FFF2-40B4-BE49-F238E27FC236}">
                <a16:creationId xmlns:a16="http://schemas.microsoft.com/office/drawing/2014/main" id="{F0DE4B76-4A20-406C-892E-5670A7D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17" name="box-s9frlyk">
            <a:extLst xmlns:a="http://schemas.openxmlformats.org/drawingml/2006/main">
              <a:ext uri="{FF2B5EF4-FFF2-40B4-BE49-F238E27FC236}">
                <a16:creationId xmlns:a16="http://schemas.microsoft.com/office/drawing/2014/main" id="{A3537B7C-1D14-4531-AD39-B6F07E5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oz3wj5o">
            <a:extLst xmlns:a="http://schemas.openxmlformats.org/drawingml/2006/main">
              <a:ext uri="{FF2B5EF4-FFF2-40B4-BE49-F238E27FC236}">
                <a16:creationId xmlns:a16="http://schemas.microsoft.com/office/drawing/2014/main" id="{B86F7F25-0B58-46C1-964B-62ABF88F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Operación</a:t>
            </a:r>
          </a:p>
        </p:txBody>
      </p:sp>
      <p:sp>
        <p:nvSpPr>
          <p:cNvPr id="19" name="text-ne2bn6o">
            <a:extLst xmlns:a="http://schemas.openxmlformats.org/drawingml/2006/main">
              <a:ext uri="{FF2B5EF4-FFF2-40B4-BE49-F238E27FC236}">
                <a16:creationId xmlns:a16="http://schemas.microsoft.com/office/drawing/2014/main" id="{02BDE1B2-D44D-4241-9F35-B95E21DC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672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728"/>
                </a:solidFill>
              </a:defRPr>
            </a:pPr>
            <a:r>
              <a:rPr sz="1575" b="0">
                <a:solidFill>
                  <a:srgbClr val="0B1728"/>
                </a:solidFill>
              </a:rPr>
              <a:t>VPS Linux · Docker Compose · HTTPS · CI/CD y monitoreo</a:t>
            </a:r>
          </a:p>
        </p:txBody>
      </p:sp>
    </p:spTree>
    <p:extLst>
      <p:ext uri="{BB962C8B-B14F-4D97-AF65-F5344CB8AC3E}">
        <p14:creationId xmlns:p14="http://schemas.microsoft.com/office/powerpoint/2010/main" val="545089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65B037E-7CF2-4747-B22A-F9F74A25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El MVP prioriza un flujo demostrable y reduce riesgos de alcance</a:t>
            </a:r>
          </a:p>
        </p:txBody>
      </p:sp>
      <p:sp>
        <p:nvSpPr>
          <p:cNvPr id="2" name="box-ua9qvfi">
            <a:extLst xmlns:a="http://schemas.openxmlformats.org/drawingml/2006/main">
              <a:ext uri="{FF2B5EF4-FFF2-40B4-BE49-F238E27FC236}">
                <a16:creationId xmlns:a16="http://schemas.microsoft.com/office/drawing/2014/main" id="{F7A48C13-937E-46D0-A976-C6706F43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sly4mi4">
            <a:extLst xmlns:a="http://schemas.openxmlformats.org/drawingml/2006/main">
              <a:ext uri="{FF2B5EF4-FFF2-40B4-BE49-F238E27FC236}">
                <a16:creationId xmlns:a16="http://schemas.microsoft.com/office/drawing/2014/main" id="{F3BBE9AC-695F-4794-B9AC-36AD500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diveklc">
            <a:extLst xmlns:a="http://schemas.openxmlformats.org/drawingml/2006/main">
              <a:ext uri="{FF2B5EF4-FFF2-40B4-BE49-F238E27FC236}">
                <a16:creationId xmlns:a16="http://schemas.microsoft.com/office/drawing/2014/main" id="{96D1269D-CD8E-4A5E-BF6B-CA358243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6</a:t>
            </a:r>
          </a:p>
        </p:txBody>
      </p:sp>
      <p:sp>
        <p:nvSpPr>
          <p:cNvPr id="5" name="box-i8hsg6u">
            <a:extLst xmlns:a="http://schemas.openxmlformats.org/drawingml/2006/main">
              <a:ext uri="{FF2B5EF4-FFF2-40B4-BE49-F238E27FC236}">
                <a16:creationId xmlns:a16="http://schemas.microsoft.com/office/drawing/2014/main" id="{0710CCB6-3144-480B-94A5-89C53770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52197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z1s501r">
            <a:extLst xmlns:a="http://schemas.openxmlformats.org/drawingml/2006/main">
              <a:ext uri="{FF2B5EF4-FFF2-40B4-BE49-F238E27FC236}">
                <a16:creationId xmlns:a16="http://schemas.microsoft.com/office/drawing/2014/main" id="{46B264D6-F5C9-48B8-BCDB-EF137FC5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35B"/>
                </a:solidFill>
              </a:defRPr>
            </a:pPr>
            <a:r>
              <a:rPr sz="1800" b="1">
                <a:solidFill>
                  <a:srgbClr val="16835B"/>
                </a:solidFill>
              </a:rPr>
              <a:t>Incluido</a:t>
            </a:r>
          </a:p>
        </p:txBody>
      </p:sp>
      <p:sp>
        <p:nvSpPr>
          <p:cNvPr id="7" name="text-di9qm4m">
            <a:extLst xmlns:a="http://schemas.openxmlformats.org/drawingml/2006/main">
              <a:ext uri="{FF2B5EF4-FFF2-40B4-BE49-F238E27FC236}">
                <a16:creationId xmlns:a16="http://schemas.microsoft.com/office/drawing/2014/main" id="{912EB6DC-FEC6-4E67-8355-3453EDA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625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Autenticación y roles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Gestión de propiedades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CRM y actividades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Vitrina sincronizada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Consultas y leads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IA con derivación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Auditoría y despliegue</a:t>
            </a:r>
          </a:p>
        </p:txBody>
      </p:sp>
      <p:sp>
        <p:nvSpPr>
          <p:cNvPr id="8" name="box-3m7q8ln">
            <a:extLst xmlns:a="http://schemas.openxmlformats.org/drawingml/2006/main">
              <a:ext uri="{FF2B5EF4-FFF2-40B4-BE49-F238E27FC236}">
                <a16:creationId xmlns:a16="http://schemas.microsoft.com/office/drawing/2014/main" id="{0D07521D-999D-4546-A06A-E4B0045B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52578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7kezghz">
            <a:extLst xmlns:a="http://schemas.openxmlformats.org/drawingml/2006/main">
              <a:ext uri="{FF2B5EF4-FFF2-40B4-BE49-F238E27FC236}">
                <a16:creationId xmlns:a16="http://schemas.microsoft.com/office/drawing/2014/main" id="{83D6B80C-135B-4FDE-A845-A16F436F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7900"/>
                </a:solidFill>
              </a:defRPr>
            </a:pPr>
            <a:r>
              <a:rPr sz="1800" b="1">
                <a:solidFill>
                  <a:srgbClr val="C87900"/>
                </a:solidFill>
              </a:rPr>
              <a:t>Después del MVP</a:t>
            </a:r>
          </a:p>
        </p:txBody>
      </p:sp>
      <p:sp>
        <p:nvSpPr>
          <p:cNvPr id="10" name="text-5w0eb1r">
            <a:extLst xmlns:a="http://schemas.openxmlformats.org/drawingml/2006/main">
              <a:ext uri="{FF2B5EF4-FFF2-40B4-BE49-F238E27FC236}">
                <a16:creationId xmlns:a16="http://schemas.microsoft.com/office/drawing/2014/main" id="{6876F9E9-4A5E-4F66-9337-C16B6FA3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8006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Portales externos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Firma electrónica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Pagos y facturación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Tasación automática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Aplicación móvil nativa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Analítica predictiva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• Operación nacional</a:t>
            </a:r>
          </a:p>
        </p:txBody>
      </p:sp>
    </p:spTree>
    <p:extLst>
      <p:ext uri="{BB962C8B-B14F-4D97-AF65-F5344CB8AC3E}">
        <p14:creationId xmlns:p14="http://schemas.microsoft.com/office/powerpoint/2010/main" val="1128395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F6E63DD-7F8B-415C-9150-5AE4BCF6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Scrum distribuye liderazgo, especialidad técnica y responsabilidad compartida</a:t>
            </a:r>
          </a:p>
        </p:txBody>
      </p:sp>
      <p:sp>
        <p:nvSpPr>
          <p:cNvPr id="2" name="box-zmheir8">
            <a:extLst xmlns:a="http://schemas.openxmlformats.org/drawingml/2006/main">
              <a:ext uri="{FF2B5EF4-FFF2-40B4-BE49-F238E27FC236}">
                <a16:creationId xmlns:a16="http://schemas.microsoft.com/office/drawing/2014/main" id="{9E5A259E-FEFC-4104-99A9-D0E7372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ns36qwl">
            <a:extLst xmlns:a="http://schemas.openxmlformats.org/drawingml/2006/main">
              <a:ext uri="{FF2B5EF4-FFF2-40B4-BE49-F238E27FC236}">
                <a16:creationId xmlns:a16="http://schemas.microsoft.com/office/drawing/2014/main" id="{27B8DA03-3363-466E-93A8-2C899963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2fhej44">
            <a:extLst xmlns:a="http://schemas.openxmlformats.org/drawingml/2006/main">
              <a:ext uri="{FF2B5EF4-FFF2-40B4-BE49-F238E27FC236}">
                <a16:creationId xmlns:a16="http://schemas.microsoft.com/office/drawing/2014/main" id="{215AB2CD-30D6-4F3B-B2E3-DD37D422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7</a:t>
            </a:r>
          </a:p>
        </p:txBody>
      </p:sp>
      <p:sp>
        <p:nvSpPr>
          <p:cNvPr id="5" name="box-1o6yq63">
            <a:extLst xmlns:a="http://schemas.openxmlformats.org/drawingml/2006/main">
              <a:ext uri="{FF2B5EF4-FFF2-40B4-BE49-F238E27FC236}">
                <a16:creationId xmlns:a16="http://schemas.microsoft.com/office/drawing/2014/main" id="{6B30621E-9B31-4507-B7A7-876F9C1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iowbx1m">
            <a:extLst xmlns:a="http://schemas.openxmlformats.org/drawingml/2006/main">
              <a:ext uri="{FF2B5EF4-FFF2-40B4-BE49-F238E27FC236}">
                <a16:creationId xmlns:a16="http://schemas.microsoft.com/office/drawing/2014/main" id="{79C94DB2-EAED-419A-B40D-DB910357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Joel López</a:t>
            </a:r>
          </a:p>
        </p:txBody>
      </p:sp>
      <p:sp>
        <p:nvSpPr>
          <p:cNvPr id="7" name="text-u80an4y">
            <a:extLst xmlns:a="http://schemas.openxmlformats.org/drawingml/2006/main">
              <a:ext uri="{FF2B5EF4-FFF2-40B4-BE49-F238E27FC236}">
                <a16:creationId xmlns:a16="http://schemas.microsoft.com/office/drawing/2014/main" id="{BC96C566-4122-4760-AB36-68A04D1E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76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Product Owner provisional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Arquitectura · Backend · DevOps</a:t>
            </a:r>
          </a:p>
        </p:txBody>
      </p:sp>
      <p:sp>
        <p:nvSpPr>
          <p:cNvPr id="8" name="box-j7fyh11">
            <a:extLst xmlns:a="http://schemas.openxmlformats.org/drawingml/2006/main">
              <a:ext uri="{FF2B5EF4-FFF2-40B4-BE49-F238E27FC236}">
                <a16:creationId xmlns:a16="http://schemas.microsoft.com/office/drawing/2014/main" id="{B1F695C4-17C8-4D86-8B59-0FF2231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cvi1x1m">
            <a:extLst xmlns:a="http://schemas.openxmlformats.org/drawingml/2006/main">
              <a:ext uri="{FF2B5EF4-FFF2-40B4-BE49-F238E27FC236}">
                <a16:creationId xmlns:a16="http://schemas.microsoft.com/office/drawing/2014/main" id="{7A283827-FE58-4464-8FD6-C7751A3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Agustín Sorolla</a:t>
            </a:r>
          </a:p>
        </p:txBody>
      </p:sp>
      <p:sp>
        <p:nvSpPr>
          <p:cNvPr id="10" name="text-55m5wvi">
            <a:extLst xmlns:a="http://schemas.openxmlformats.org/drawingml/2006/main">
              <a:ext uri="{FF2B5EF4-FFF2-40B4-BE49-F238E27FC236}">
                <a16:creationId xmlns:a16="http://schemas.microsoft.com/office/drawing/2014/main" id="{7D0B9CD5-9F19-4324-A1CA-E727A642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05050"/>
            <a:ext cx="2876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Scrum Master provisional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Frontend · UX · facilitación</a:t>
            </a:r>
          </a:p>
        </p:txBody>
      </p:sp>
      <p:sp>
        <p:nvSpPr>
          <p:cNvPr id="11" name="box-9bpdr9u">
            <a:extLst xmlns:a="http://schemas.openxmlformats.org/drawingml/2006/main">
              <a:ext uri="{FF2B5EF4-FFF2-40B4-BE49-F238E27FC236}">
                <a16:creationId xmlns:a16="http://schemas.microsoft.com/office/drawing/2014/main" id="{1A46056B-6F53-47FD-B899-3628F728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8956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emf5hgv">
            <a:extLst xmlns:a="http://schemas.openxmlformats.org/drawingml/2006/main">
              <a:ext uri="{FF2B5EF4-FFF2-40B4-BE49-F238E27FC236}">
                <a16:creationId xmlns:a16="http://schemas.microsoft.com/office/drawing/2014/main" id="{5A927189-8180-4EDB-A36F-83085753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Matías Martínez</a:t>
            </a:r>
          </a:p>
        </p:txBody>
      </p:sp>
      <p:sp>
        <p:nvSpPr>
          <p:cNvPr id="13" name="text-45hsd3c">
            <a:extLst xmlns:a="http://schemas.openxmlformats.org/drawingml/2006/main">
              <a:ext uri="{FF2B5EF4-FFF2-40B4-BE49-F238E27FC236}">
                <a16:creationId xmlns:a16="http://schemas.microsoft.com/office/drawing/2014/main" id="{03483788-0AEC-4E77-BC94-923E3F0E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38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Datos · IA · Seguridad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Calidad y pruebas</a:t>
            </a:r>
          </a:p>
        </p:txBody>
      </p:sp>
      <p:sp>
        <p:nvSpPr>
          <p:cNvPr id="14" name="text-h8kyq1q">
            <a:extLst xmlns:a="http://schemas.openxmlformats.org/drawingml/2006/main">
              <a:ext uri="{FF2B5EF4-FFF2-40B4-BE49-F238E27FC236}">
                <a16:creationId xmlns:a16="http://schemas.microsoft.com/office/drawing/2014/main" id="{DC0850A2-E02A-4AFD-AF16-C7E4F32B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728"/>
                </a:solidFill>
              </a:defRPr>
            </a:pPr>
            <a:r>
              <a:rPr sz="1875" b="1">
                <a:solidFill>
                  <a:srgbClr val="0B1728"/>
                </a:solidFill>
              </a:rPr>
              <a:t>Todos desarrollan código, pruebas, documentación y evidencia en GitHub.</a:t>
            </a:r>
          </a:p>
        </p:txBody>
      </p:sp>
      <p:sp>
        <p:nvSpPr>
          <p:cNvPr id="15" name="text-bwsjmad">
            <a:extLst xmlns:a="http://schemas.openxmlformats.org/drawingml/2006/main">
              <a:ext uri="{FF2B5EF4-FFF2-40B4-BE49-F238E27FC236}">
                <a16:creationId xmlns:a16="http://schemas.microsoft.com/office/drawing/2014/main" id="{A0A62228-C7E5-4862-9D6D-37AFA348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563EB"/>
                </a:solidFill>
              </a:defRPr>
            </a:pPr>
            <a:r>
              <a:rPr sz="1575" b="0">
                <a:solidFill>
                  <a:srgbClr val="2563EB"/>
                </a:solidFill>
              </a:rPr>
              <a:t>Sprint Planning · Daily breve · Refinamiento · Review · Retrospective</a:t>
            </a:r>
          </a:p>
        </p:txBody>
      </p:sp>
    </p:spTree>
    <p:extLst>
      <p:ext uri="{BB962C8B-B14F-4D97-AF65-F5344CB8AC3E}">
        <p14:creationId xmlns:p14="http://schemas.microsoft.com/office/powerpoint/2010/main" val="1477597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39C827F-DD24-4404-BE96-83C28E87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El backlog ordena primero los habilitadores del flujo inmobiliario</a:t>
            </a:r>
          </a:p>
        </p:txBody>
      </p:sp>
      <p:sp>
        <p:nvSpPr>
          <p:cNvPr id="2" name="box-7w7rgg6">
            <a:extLst xmlns:a="http://schemas.openxmlformats.org/drawingml/2006/main">
              <a:ext uri="{FF2B5EF4-FFF2-40B4-BE49-F238E27FC236}">
                <a16:creationId xmlns:a16="http://schemas.microsoft.com/office/drawing/2014/main" id="{1DE0ACE8-7FAE-45DC-98AB-78A09E8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5p46igw">
            <a:extLst xmlns:a="http://schemas.openxmlformats.org/drawingml/2006/main">
              <a:ext uri="{FF2B5EF4-FFF2-40B4-BE49-F238E27FC236}">
                <a16:creationId xmlns:a16="http://schemas.microsoft.com/office/drawing/2014/main" id="{C4EECFE4-E6FF-4C56-AA98-900CB9C0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sye99ti">
            <a:extLst xmlns:a="http://schemas.openxmlformats.org/drawingml/2006/main">
              <a:ext uri="{FF2B5EF4-FFF2-40B4-BE49-F238E27FC236}">
                <a16:creationId xmlns:a16="http://schemas.microsoft.com/office/drawing/2014/main" id="{421F1D50-0274-4227-970A-E501446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8</a:t>
            </a:r>
          </a:p>
        </p:txBody>
      </p:sp>
      <p:sp>
        <p:nvSpPr>
          <p:cNvPr id="5" name="box-x2u7alg">
            <a:extLst xmlns:a="http://schemas.openxmlformats.org/drawingml/2006/main">
              <a:ext uri="{FF2B5EF4-FFF2-40B4-BE49-F238E27FC236}">
                <a16:creationId xmlns:a16="http://schemas.microsoft.com/office/drawing/2014/main" id="{D78F7C58-E7A8-4A59-93DB-4536BB48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tfkteq3">
            <a:extLst xmlns:a="http://schemas.openxmlformats.org/drawingml/2006/main">
              <a:ext uri="{FF2B5EF4-FFF2-40B4-BE49-F238E27FC236}">
                <a16:creationId xmlns:a16="http://schemas.microsoft.com/office/drawing/2014/main" id="{BAA7063E-83A7-4D4A-BABB-093A853C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P01</a:t>
            </a:r>
          </a:p>
        </p:txBody>
      </p:sp>
      <p:sp>
        <p:nvSpPr>
          <p:cNvPr id="7" name="text-wl3qqdi">
            <a:extLst xmlns:a="http://schemas.openxmlformats.org/drawingml/2006/main">
              <a:ext uri="{FF2B5EF4-FFF2-40B4-BE49-F238E27FC236}">
                <a16:creationId xmlns:a16="http://schemas.microsoft.com/office/drawing/2014/main" id="{A0690CE7-9560-48EA-95B1-67D9E78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430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8"/>
                </a:solidFill>
              </a:defRPr>
            </a:pPr>
            <a:r>
              <a:rPr sz="1500" b="0">
                <a:solidFill>
                  <a:srgbClr val="0B1728"/>
                </a:solidFill>
              </a:rPr>
              <a:t>Autenticación y roles</a:t>
            </a:r>
          </a:p>
        </p:txBody>
      </p:sp>
      <p:sp>
        <p:nvSpPr>
          <p:cNvPr id="8" name="text-409upzz">
            <a:extLst xmlns:a="http://schemas.openxmlformats.org/drawingml/2006/main">
              <a:ext uri="{FF2B5EF4-FFF2-40B4-BE49-F238E27FC236}">
                <a16:creationId xmlns:a16="http://schemas.microsoft.com/office/drawing/2014/main" id="{8957B623-D7B4-405C-942E-16E983B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52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35B"/>
                </a:solidFill>
              </a:defRPr>
            </a:pPr>
            <a:r>
              <a:rPr sz="1350" b="1">
                <a:solidFill>
                  <a:srgbClr val="16835B"/>
                </a:solidFill>
              </a:rPr>
              <a:t>Alta</a:t>
            </a:r>
          </a:p>
        </p:txBody>
      </p:sp>
      <p:sp>
        <p:nvSpPr>
          <p:cNvPr id="9" name="box-9k05zgu">
            <a:extLst xmlns:a="http://schemas.openxmlformats.org/drawingml/2006/main">
              <a:ext uri="{FF2B5EF4-FFF2-40B4-BE49-F238E27FC236}">
                <a16:creationId xmlns:a16="http://schemas.microsoft.com/office/drawing/2014/main" id="{9DBA905E-FA6C-4902-B952-82D0EA9A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8x54aqo">
            <a:extLst xmlns:a="http://schemas.openxmlformats.org/drawingml/2006/main">
              <a:ext uri="{FF2B5EF4-FFF2-40B4-BE49-F238E27FC236}">
                <a16:creationId xmlns:a16="http://schemas.microsoft.com/office/drawing/2014/main" id="{F3072DFA-9083-43D3-BFA6-920F0742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P02</a:t>
            </a:r>
          </a:p>
        </p:txBody>
      </p:sp>
      <p:sp>
        <p:nvSpPr>
          <p:cNvPr id="11" name="text-xngsclv">
            <a:extLst xmlns:a="http://schemas.openxmlformats.org/drawingml/2006/main">
              <a:ext uri="{FF2B5EF4-FFF2-40B4-BE49-F238E27FC236}">
                <a16:creationId xmlns:a16="http://schemas.microsoft.com/office/drawing/2014/main" id="{F2545D59-00AB-48AB-8594-DD31515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8"/>
                </a:solidFill>
              </a:defRPr>
            </a:pPr>
            <a:r>
              <a:rPr sz="1500" b="0">
                <a:solidFill>
                  <a:srgbClr val="0B1728"/>
                </a:solidFill>
              </a:rPr>
              <a:t>CRUD de propiedades</a:t>
            </a:r>
          </a:p>
        </p:txBody>
      </p:sp>
      <p:sp>
        <p:nvSpPr>
          <p:cNvPr id="12" name="text-59zwbdq">
            <a:extLst xmlns:a="http://schemas.openxmlformats.org/drawingml/2006/main">
              <a:ext uri="{FF2B5EF4-FFF2-40B4-BE49-F238E27FC236}">
                <a16:creationId xmlns:a16="http://schemas.microsoft.com/office/drawing/2014/main" id="{0E529DEB-BD7F-43A8-8F67-AA72C4B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35B"/>
                </a:solidFill>
              </a:defRPr>
            </a:pPr>
            <a:r>
              <a:rPr sz="1350" b="1">
                <a:solidFill>
                  <a:srgbClr val="16835B"/>
                </a:solidFill>
              </a:rPr>
              <a:t>Alta</a:t>
            </a:r>
          </a:p>
        </p:txBody>
      </p:sp>
      <p:sp>
        <p:nvSpPr>
          <p:cNvPr id="13" name="box-e0qcih9">
            <a:extLst xmlns:a="http://schemas.openxmlformats.org/drawingml/2006/main">
              <a:ext uri="{FF2B5EF4-FFF2-40B4-BE49-F238E27FC236}">
                <a16:creationId xmlns:a16="http://schemas.microsoft.com/office/drawing/2014/main" id="{2B196B64-2CD5-44BB-ADCB-268FDC5A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4zklyr4">
            <a:extLst xmlns:a="http://schemas.openxmlformats.org/drawingml/2006/main">
              <a:ext uri="{FF2B5EF4-FFF2-40B4-BE49-F238E27FC236}">
                <a16:creationId xmlns:a16="http://schemas.microsoft.com/office/drawing/2014/main" id="{41CD5EDC-552A-4377-B86F-F8C66E2B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P03</a:t>
            </a:r>
          </a:p>
        </p:txBody>
      </p:sp>
      <p:sp>
        <p:nvSpPr>
          <p:cNvPr id="15" name="text-h41w59t">
            <a:extLst xmlns:a="http://schemas.openxmlformats.org/drawingml/2006/main">
              <a:ext uri="{FF2B5EF4-FFF2-40B4-BE49-F238E27FC236}">
                <a16:creationId xmlns:a16="http://schemas.microsoft.com/office/drawing/2014/main" id="{9FAE76E1-466F-4C65-ACD8-371523E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146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8"/>
                </a:solidFill>
              </a:defRPr>
            </a:pPr>
            <a:r>
              <a:rPr sz="1500" b="0">
                <a:solidFill>
                  <a:srgbClr val="0B1728"/>
                </a:solidFill>
              </a:rPr>
              <a:t>CRM de leads</a:t>
            </a:r>
          </a:p>
        </p:txBody>
      </p:sp>
      <p:sp>
        <p:nvSpPr>
          <p:cNvPr id="16" name="text-ak431be">
            <a:extLst xmlns:a="http://schemas.openxmlformats.org/drawingml/2006/main">
              <a:ext uri="{FF2B5EF4-FFF2-40B4-BE49-F238E27FC236}">
                <a16:creationId xmlns:a16="http://schemas.microsoft.com/office/drawing/2014/main" id="{C27DBE96-3F50-44C6-89BB-FE5EE7A2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24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35B"/>
                </a:solidFill>
              </a:defRPr>
            </a:pPr>
            <a:r>
              <a:rPr sz="1350" b="1">
                <a:solidFill>
                  <a:srgbClr val="16835B"/>
                </a:solidFill>
              </a:rPr>
              <a:t>Alta</a:t>
            </a:r>
          </a:p>
        </p:txBody>
      </p:sp>
      <p:sp>
        <p:nvSpPr>
          <p:cNvPr id="17" name="box-0p91jwh">
            <a:extLst xmlns:a="http://schemas.openxmlformats.org/drawingml/2006/main">
              <a:ext uri="{FF2B5EF4-FFF2-40B4-BE49-F238E27FC236}">
                <a16:creationId xmlns:a16="http://schemas.microsoft.com/office/drawing/2014/main" id="{B4C90178-A9A8-41D2-A3DA-131437E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wne68jo">
            <a:extLst xmlns:a="http://schemas.openxmlformats.org/drawingml/2006/main">
              <a:ext uri="{FF2B5EF4-FFF2-40B4-BE49-F238E27FC236}">
                <a16:creationId xmlns:a16="http://schemas.microsoft.com/office/drawing/2014/main" id="{4BBA22BD-C8B9-4E7D-A41C-0650D94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P04</a:t>
            </a:r>
          </a:p>
        </p:txBody>
      </p:sp>
      <p:sp>
        <p:nvSpPr>
          <p:cNvPr id="19" name="text-pyct1g0">
            <a:extLst xmlns:a="http://schemas.openxmlformats.org/drawingml/2006/main">
              <a:ext uri="{FF2B5EF4-FFF2-40B4-BE49-F238E27FC236}">
                <a16:creationId xmlns:a16="http://schemas.microsoft.com/office/drawing/2014/main" id="{0D938318-3B30-4EA6-B49F-61D51C97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8"/>
                </a:solidFill>
              </a:defRPr>
            </a:pPr>
            <a:r>
              <a:rPr sz="1500" b="0">
                <a:solidFill>
                  <a:srgbClr val="0B1728"/>
                </a:solidFill>
              </a:rPr>
              <a:t>Vitrina pública</a:t>
            </a:r>
          </a:p>
        </p:txBody>
      </p:sp>
      <p:sp>
        <p:nvSpPr>
          <p:cNvPr id="20" name="text-ghckcee">
            <a:extLst xmlns:a="http://schemas.openxmlformats.org/drawingml/2006/main">
              <a:ext uri="{FF2B5EF4-FFF2-40B4-BE49-F238E27FC236}">
                <a16:creationId xmlns:a16="http://schemas.microsoft.com/office/drawing/2014/main" id="{492B1F2F-3B30-4F02-A754-04D956FF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99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35B"/>
                </a:solidFill>
              </a:defRPr>
            </a:pPr>
            <a:r>
              <a:rPr sz="1350" b="1">
                <a:solidFill>
                  <a:srgbClr val="16835B"/>
                </a:solidFill>
              </a:rPr>
              <a:t>Alta</a:t>
            </a:r>
          </a:p>
        </p:txBody>
      </p:sp>
      <p:sp>
        <p:nvSpPr>
          <p:cNvPr id="21" name="box-vjcwf63">
            <a:extLst xmlns:a="http://schemas.openxmlformats.org/drawingml/2006/main">
              <a:ext uri="{FF2B5EF4-FFF2-40B4-BE49-F238E27FC236}">
                <a16:creationId xmlns:a16="http://schemas.microsoft.com/office/drawing/2014/main" id="{F38EB84B-9A38-45CD-AED2-C034D4A2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3xtsmcn">
            <a:extLst xmlns:a="http://schemas.openxmlformats.org/drawingml/2006/main">
              <a:ext uri="{FF2B5EF4-FFF2-40B4-BE49-F238E27FC236}">
                <a16:creationId xmlns:a16="http://schemas.microsoft.com/office/drawing/2014/main" id="{6891F832-08AF-4B66-ADA1-8D72D315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P05</a:t>
            </a:r>
          </a:p>
        </p:txBody>
      </p:sp>
      <p:sp>
        <p:nvSpPr>
          <p:cNvPr id="23" name="text-ucjy920">
            <a:extLst xmlns:a="http://schemas.openxmlformats.org/drawingml/2006/main">
              <a:ext uri="{FF2B5EF4-FFF2-40B4-BE49-F238E27FC236}">
                <a16:creationId xmlns:a16="http://schemas.microsoft.com/office/drawing/2014/main" id="{0D8D4109-1490-4B66-A08D-DE6E7A3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8"/>
                </a:solidFill>
              </a:defRPr>
            </a:pPr>
            <a:r>
              <a:rPr sz="1500" b="0">
                <a:solidFill>
                  <a:srgbClr val="0B1728"/>
                </a:solidFill>
              </a:rPr>
              <a:t>Agente IA y derivación</a:t>
            </a:r>
          </a:p>
        </p:txBody>
      </p:sp>
      <p:sp>
        <p:nvSpPr>
          <p:cNvPr id="24" name="text-523mrhe">
            <a:extLst xmlns:a="http://schemas.openxmlformats.org/drawingml/2006/main">
              <a:ext uri="{FF2B5EF4-FFF2-40B4-BE49-F238E27FC236}">
                <a16:creationId xmlns:a16="http://schemas.microsoft.com/office/drawing/2014/main" id="{54236F87-E100-461C-B02B-8FD02CC8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957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7900"/>
                </a:solidFill>
              </a:defRPr>
            </a:pPr>
            <a:r>
              <a:rPr sz="1350" b="1">
                <a:solidFill>
                  <a:srgbClr val="C87900"/>
                </a:solidFill>
              </a:rPr>
              <a:t>Media</a:t>
            </a:r>
          </a:p>
        </p:txBody>
      </p:sp>
      <p:sp>
        <p:nvSpPr>
          <p:cNvPr id="25" name="box-6pn46py">
            <a:extLst xmlns:a="http://schemas.openxmlformats.org/drawingml/2006/main">
              <a:ext uri="{FF2B5EF4-FFF2-40B4-BE49-F238E27FC236}">
                <a16:creationId xmlns:a16="http://schemas.microsoft.com/office/drawing/2014/main" id="{AD3A3DFB-1CDA-403D-8907-9438479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dvdl8o8">
            <a:extLst xmlns:a="http://schemas.openxmlformats.org/drawingml/2006/main">
              <a:ext uri="{FF2B5EF4-FFF2-40B4-BE49-F238E27FC236}">
                <a16:creationId xmlns:a16="http://schemas.microsoft.com/office/drawing/2014/main" id="{F92F2D74-BDE1-4D57-A5BE-79ADA2E0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P06</a:t>
            </a:r>
          </a:p>
        </p:txBody>
      </p:sp>
      <p:sp>
        <p:nvSpPr>
          <p:cNvPr id="27" name="text-ugbog17">
            <a:extLst xmlns:a="http://schemas.openxmlformats.org/drawingml/2006/main">
              <a:ext uri="{FF2B5EF4-FFF2-40B4-BE49-F238E27FC236}">
                <a16:creationId xmlns:a16="http://schemas.microsoft.com/office/drawing/2014/main" id="{2752C649-FAEE-42C1-9145-626AF26C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8"/>
                </a:solidFill>
              </a:defRPr>
            </a:pPr>
            <a:r>
              <a:rPr sz="1500" b="0">
                <a:solidFill>
                  <a:srgbClr val="0B1728"/>
                </a:solidFill>
              </a:rPr>
              <a:t>Auditoría y operación</a:t>
            </a:r>
          </a:p>
        </p:txBody>
      </p:sp>
      <p:sp>
        <p:nvSpPr>
          <p:cNvPr id="28" name="text-gv2yjsv">
            <a:extLst xmlns:a="http://schemas.openxmlformats.org/drawingml/2006/main">
              <a:ext uri="{FF2B5EF4-FFF2-40B4-BE49-F238E27FC236}">
                <a16:creationId xmlns:a16="http://schemas.microsoft.com/office/drawing/2014/main" id="{48F663A0-66CE-4E0B-A8F1-86038645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7900"/>
                </a:solidFill>
              </a:defRPr>
            </a:pPr>
            <a:r>
              <a:rPr sz="1350" b="1">
                <a:solidFill>
                  <a:srgbClr val="C87900"/>
                </a:solidFill>
              </a:rPr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817755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49C8A3C8-23FF-4A9F-856E-47B8E6F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Las 18 semanas avanzan desde definición hasta validación final</a:t>
            </a:r>
          </a:p>
        </p:txBody>
      </p:sp>
      <p:sp>
        <p:nvSpPr>
          <p:cNvPr id="2" name="box-h13dyvj">
            <a:extLst xmlns:a="http://schemas.openxmlformats.org/drawingml/2006/main">
              <a:ext uri="{FF2B5EF4-FFF2-40B4-BE49-F238E27FC236}">
                <a16:creationId xmlns:a16="http://schemas.microsoft.com/office/drawing/2014/main" id="{0A58EF24-B066-4DE3-B6B2-26482C3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dtl4wv1">
            <a:extLst xmlns:a="http://schemas.openxmlformats.org/drawingml/2006/main">
              <a:ext uri="{FF2B5EF4-FFF2-40B4-BE49-F238E27FC236}">
                <a16:creationId xmlns:a16="http://schemas.microsoft.com/office/drawing/2014/main" id="{4CE66079-DF60-40B8-AE10-163EC251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vpngs3z">
            <a:extLst xmlns:a="http://schemas.openxmlformats.org/drawingml/2006/main">
              <a:ext uri="{FF2B5EF4-FFF2-40B4-BE49-F238E27FC236}">
                <a16:creationId xmlns:a16="http://schemas.microsoft.com/office/drawing/2014/main" id="{D57B136B-C2AE-4D64-AD75-A2290BA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9</a:t>
            </a:r>
          </a:p>
        </p:txBody>
      </p:sp>
      <p:sp>
        <p:nvSpPr>
          <p:cNvPr id="5" name="box-obzc8en">
            <a:extLst xmlns:a="http://schemas.openxmlformats.org/drawingml/2006/main">
              <a:ext uri="{FF2B5EF4-FFF2-40B4-BE49-F238E27FC236}">
                <a16:creationId xmlns:a16="http://schemas.microsoft.com/office/drawing/2014/main" id="{DAECFA7F-C078-46AA-88C2-C0C427E2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d01fo1e">
            <a:extLst xmlns:a="http://schemas.openxmlformats.org/drawingml/2006/main">
              <a:ext uri="{FF2B5EF4-FFF2-40B4-BE49-F238E27FC236}">
                <a16:creationId xmlns:a16="http://schemas.microsoft.com/office/drawing/2014/main" id="{1564A65A-B79B-4FFD-A306-5C63EC6F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Fase 1</a:t>
            </a:r>
          </a:p>
        </p:txBody>
      </p:sp>
      <p:sp>
        <p:nvSpPr>
          <p:cNvPr id="7" name="text-hq59pik">
            <a:extLst xmlns:a="http://schemas.openxmlformats.org/drawingml/2006/main">
              <a:ext uri="{FF2B5EF4-FFF2-40B4-BE49-F238E27FC236}">
                <a16:creationId xmlns:a16="http://schemas.microsoft.com/office/drawing/2014/main" id="{AEE12DB1-F49A-40CB-92D4-60BB384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S1–S4</a:t>
            </a:r>
          </a:p>
        </p:txBody>
      </p:sp>
      <p:sp>
        <p:nvSpPr>
          <p:cNvPr id="8" name="text-pvwnwz7">
            <a:extLst xmlns:a="http://schemas.openxmlformats.org/drawingml/2006/main">
              <a:ext uri="{FF2B5EF4-FFF2-40B4-BE49-F238E27FC236}">
                <a16:creationId xmlns:a16="http://schemas.microsoft.com/office/drawing/2014/main" id="{91F1C740-482D-4BFF-9E28-8C980595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Definición, alcance, método y presentación</a:t>
            </a:r>
          </a:p>
        </p:txBody>
      </p:sp>
      <p:sp>
        <p:nvSpPr>
          <p:cNvPr id="9" name="box-g8tx7f9">
            <a:extLst xmlns:a="http://schemas.openxmlformats.org/drawingml/2006/main">
              <a:ext uri="{FF2B5EF4-FFF2-40B4-BE49-F238E27FC236}">
                <a16:creationId xmlns:a16="http://schemas.microsoft.com/office/drawing/2014/main" id="{31DD4DE0-500B-4055-A2D1-F5F8C60D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192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text-mvigu1j">
            <a:extLst xmlns:a="http://schemas.openxmlformats.org/drawingml/2006/main">
              <a:ext uri="{FF2B5EF4-FFF2-40B4-BE49-F238E27FC236}">
                <a16:creationId xmlns:a16="http://schemas.microsoft.com/office/drawing/2014/main" id="{B177F940-B130-42B4-A300-9C32BDA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Fase 2</a:t>
            </a:r>
          </a:p>
        </p:txBody>
      </p:sp>
      <p:sp>
        <p:nvSpPr>
          <p:cNvPr id="11" name="text-7umqb6t">
            <a:extLst xmlns:a="http://schemas.openxmlformats.org/drawingml/2006/main">
              <a:ext uri="{FF2B5EF4-FFF2-40B4-BE49-F238E27FC236}">
                <a16:creationId xmlns:a16="http://schemas.microsoft.com/office/drawing/2014/main" id="{E58E76AE-C572-4AD3-90DA-68B905EF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S5–S16</a:t>
            </a:r>
          </a:p>
        </p:txBody>
      </p:sp>
      <p:sp>
        <p:nvSpPr>
          <p:cNvPr id="12" name="text-159v95s">
            <a:extLst xmlns:a="http://schemas.openxmlformats.org/drawingml/2006/main">
              <a:ext uri="{FF2B5EF4-FFF2-40B4-BE49-F238E27FC236}">
                <a16:creationId xmlns:a16="http://schemas.microsoft.com/office/drawing/2014/main" id="{5388070B-AB40-4C69-AA37-54F102A3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Construcción incremental, integración y pruebas</a:t>
            </a:r>
          </a:p>
        </p:txBody>
      </p:sp>
      <p:sp>
        <p:nvSpPr>
          <p:cNvPr id="13" name="box-de41e4x">
            <a:extLst xmlns:a="http://schemas.openxmlformats.org/drawingml/2006/main">
              <a:ext uri="{FF2B5EF4-FFF2-40B4-BE49-F238E27FC236}">
                <a16:creationId xmlns:a16="http://schemas.microsoft.com/office/drawing/2014/main" id="{9040CFB2-B08C-4A43-A7DF-66BEB10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zgkpqnf">
            <a:extLst xmlns:a="http://schemas.openxmlformats.org/drawingml/2006/main">
              <a:ext uri="{FF2B5EF4-FFF2-40B4-BE49-F238E27FC236}">
                <a16:creationId xmlns:a16="http://schemas.microsoft.com/office/drawing/2014/main" id="{DB368BDE-B06E-4795-9D4A-FA780E84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431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Fase 3</a:t>
            </a:r>
          </a:p>
        </p:txBody>
      </p:sp>
      <p:sp>
        <p:nvSpPr>
          <p:cNvPr id="15" name="text-6b3ko42">
            <a:extLst xmlns:a="http://schemas.openxmlformats.org/drawingml/2006/main">
              <a:ext uri="{FF2B5EF4-FFF2-40B4-BE49-F238E27FC236}">
                <a16:creationId xmlns:a16="http://schemas.microsoft.com/office/drawing/2014/main" id="{59B80F78-671B-4D3C-91A2-1AEA48B8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S17–S18</a:t>
            </a:r>
          </a:p>
        </p:txBody>
      </p:sp>
      <p:sp>
        <p:nvSpPr>
          <p:cNvPr id="16" name="text-9k46bhe">
            <a:extLst xmlns:a="http://schemas.openxmlformats.org/drawingml/2006/main">
              <a:ext uri="{FF2B5EF4-FFF2-40B4-BE49-F238E27FC236}">
                <a16:creationId xmlns:a16="http://schemas.microsoft.com/office/drawing/2014/main" id="{6C9A9226-2664-4C0F-8566-B54B02F7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Cierre, demostración y defensa</a:t>
            </a:r>
          </a:p>
        </p:txBody>
      </p:sp>
      <p:sp>
        <p:nvSpPr>
          <p:cNvPr id="17" name="text-711vd84">
            <a:extLst xmlns:a="http://schemas.openxmlformats.org/drawingml/2006/main">
              <a:ext uri="{FF2B5EF4-FFF2-40B4-BE49-F238E27FC236}">
                <a16:creationId xmlns:a16="http://schemas.microsoft.com/office/drawing/2014/main" id="{24F96134-E48F-43DE-85F0-1617F68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35B"/>
                </a:solidFill>
              </a:defRPr>
            </a:pPr>
            <a:r>
              <a:rPr sz="1500" b="1">
                <a:solidFill>
                  <a:srgbClr val="16835B"/>
                </a:solidFill>
              </a:rPr>
              <a:t>Hitos: presentación Fase 1 (S4) · avance (S10) · desarrollo final (S15) · comisión (S17–S18)</a:t>
            </a:r>
          </a:p>
        </p:txBody>
      </p:sp>
    </p:spTree>
    <p:extLst>
      <p:ext uri="{BB962C8B-B14F-4D97-AF65-F5344CB8AC3E}">
        <p14:creationId xmlns:p14="http://schemas.microsoft.com/office/powerpoint/2010/main" val="2110397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476BBA5-1491-43F3-8552-5CD4C0B9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La IA asiste dentro de límites verificables y mantiene una salida humana</a:t>
            </a:r>
          </a:p>
        </p:txBody>
      </p:sp>
      <p:sp>
        <p:nvSpPr>
          <p:cNvPr id="2" name="box-tjwjuqg">
            <a:extLst xmlns:a="http://schemas.openxmlformats.org/drawingml/2006/main">
              <a:ext uri="{FF2B5EF4-FFF2-40B4-BE49-F238E27FC236}">
                <a16:creationId xmlns:a16="http://schemas.microsoft.com/office/drawing/2014/main" id="{73D7FDF6-31D8-4C3B-A296-02327AF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d5nk5ic">
            <a:extLst xmlns:a="http://schemas.openxmlformats.org/drawingml/2006/main">
              <a:ext uri="{FF2B5EF4-FFF2-40B4-BE49-F238E27FC236}">
                <a16:creationId xmlns:a16="http://schemas.microsoft.com/office/drawing/2014/main" id="{E16A5BE5-833D-400C-A9F9-4DE17A7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efti7te">
            <a:extLst xmlns:a="http://schemas.openxmlformats.org/drawingml/2006/main">
              <a:ext uri="{FF2B5EF4-FFF2-40B4-BE49-F238E27FC236}">
                <a16:creationId xmlns:a16="http://schemas.microsoft.com/office/drawing/2014/main" id="{E318F9B1-C93D-437E-9203-B48C619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5" name="box-1m7yca6">
            <a:extLst xmlns:a="http://schemas.openxmlformats.org/drawingml/2006/main">
              <a:ext uri="{FF2B5EF4-FFF2-40B4-BE49-F238E27FC236}">
                <a16:creationId xmlns:a16="http://schemas.microsoft.com/office/drawing/2014/main" id="{8BCEA8FA-BDD2-4D6E-A8B8-BC880BA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5219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eziqu72">
            <a:extLst xmlns:a="http://schemas.openxmlformats.org/drawingml/2006/main">
              <a:ext uri="{FF2B5EF4-FFF2-40B4-BE49-F238E27FC236}">
                <a16:creationId xmlns:a16="http://schemas.microsoft.com/office/drawing/2014/main" id="{B0373B58-BFA7-41CF-BF9E-44881EA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Fuente controlada</a:t>
            </a:r>
          </a:p>
        </p:txBody>
      </p:sp>
      <p:sp>
        <p:nvSpPr>
          <p:cNvPr id="7" name="text-8xvts44">
            <a:extLst xmlns:a="http://schemas.openxmlformats.org/drawingml/2006/main">
              <a:ext uri="{FF2B5EF4-FFF2-40B4-BE49-F238E27FC236}">
                <a16:creationId xmlns:a16="http://schemas.microsoft.com/office/drawing/2014/main" id="{CD4B8861-4535-4006-87CC-686C288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Responde sobre propiedades y políticas disponibles en el sistema.</a:t>
            </a:r>
          </a:p>
        </p:txBody>
      </p:sp>
      <p:sp>
        <p:nvSpPr>
          <p:cNvPr id="8" name="box-780sd0a">
            <a:extLst xmlns:a="http://schemas.openxmlformats.org/drawingml/2006/main">
              <a:ext uri="{FF2B5EF4-FFF2-40B4-BE49-F238E27FC236}">
                <a16:creationId xmlns:a16="http://schemas.microsoft.com/office/drawing/2014/main" id="{504607FB-CA81-4D61-8CAA-1CD81EE0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5257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9lp1yxg">
            <a:extLst xmlns:a="http://schemas.openxmlformats.org/drawingml/2006/main">
              <a:ext uri="{FF2B5EF4-FFF2-40B4-BE49-F238E27FC236}">
                <a16:creationId xmlns:a16="http://schemas.microsoft.com/office/drawing/2014/main" id="{C355165C-06B7-4EEA-B81E-BD42D3FC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Privacidad</a:t>
            </a:r>
          </a:p>
        </p:txBody>
      </p:sp>
      <p:sp>
        <p:nvSpPr>
          <p:cNvPr id="10" name="text-jil6e3g">
            <a:extLst xmlns:a="http://schemas.openxmlformats.org/drawingml/2006/main">
              <a:ext uri="{FF2B5EF4-FFF2-40B4-BE49-F238E27FC236}">
                <a16:creationId xmlns:a16="http://schemas.microsoft.com/office/drawing/2014/main" id="{58169A16-DCC8-479B-B7BC-AF76F572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800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Minimiza datos personales y restringe acceso según rol.</a:t>
            </a:r>
          </a:p>
        </p:txBody>
      </p:sp>
      <p:sp>
        <p:nvSpPr>
          <p:cNvPr id="11" name="box-4harc6y">
            <a:extLst xmlns:a="http://schemas.openxmlformats.org/drawingml/2006/main">
              <a:ext uri="{FF2B5EF4-FFF2-40B4-BE49-F238E27FC236}">
                <a16:creationId xmlns:a16="http://schemas.microsoft.com/office/drawing/2014/main" id="{EC92A80F-4E40-4497-B62B-B79C1143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5219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3s8g1tf">
            <a:extLst xmlns:a="http://schemas.openxmlformats.org/drawingml/2006/main">
              <a:ext uri="{FF2B5EF4-FFF2-40B4-BE49-F238E27FC236}">
                <a16:creationId xmlns:a16="http://schemas.microsoft.com/office/drawing/2014/main" id="{24CC7AB1-0A0D-403F-A432-8348C83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Trazabilidad</a:t>
            </a:r>
          </a:p>
        </p:txBody>
      </p:sp>
      <p:sp>
        <p:nvSpPr>
          <p:cNvPr id="13" name="text-kmc8f19">
            <a:extLst xmlns:a="http://schemas.openxmlformats.org/drawingml/2006/main">
              <a:ext uri="{FF2B5EF4-FFF2-40B4-BE49-F238E27FC236}">
                <a16:creationId xmlns:a16="http://schemas.microsoft.com/office/drawing/2014/main" id="{070FBC4C-F7B7-46C0-A686-58D6E726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Registra conversación, fuente consultada, resultado y derivación.</a:t>
            </a:r>
          </a:p>
        </p:txBody>
      </p:sp>
      <p:sp>
        <p:nvSpPr>
          <p:cNvPr id="14" name="box-trm6om3">
            <a:extLst xmlns:a="http://schemas.openxmlformats.org/drawingml/2006/main">
              <a:ext uri="{FF2B5EF4-FFF2-40B4-BE49-F238E27FC236}">
                <a16:creationId xmlns:a16="http://schemas.microsoft.com/office/drawing/2014/main" id="{4272BFE2-9BE1-471E-A3BA-38D38213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5257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a2dpwon">
            <a:extLst xmlns:a="http://schemas.openxmlformats.org/drawingml/2006/main">
              <a:ext uri="{FF2B5EF4-FFF2-40B4-BE49-F238E27FC236}">
                <a16:creationId xmlns:a16="http://schemas.microsoft.com/office/drawing/2014/main" id="{5180708A-22B2-4674-99BD-EA6A97D6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528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Derivación</a:t>
            </a:r>
          </a:p>
        </p:txBody>
      </p:sp>
      <p:sp>
        <p:nvSpPr>
          <p:cNvPr id="16" name="text-9ixxnnx">
            <a:extLst xmlns:a="http://schemas.openxmlformats.org/drawingml/2006/main">
              <a:ext uri="{FF2B5EF4-FFF2-40B4-BE49-F238E27FC236}">
                <a16:creationId xmlns:a16="http://schemas.microsoft.com/office/drawing/2014/main" id="{654C0E97-A043-455A-A8D5-4F73EA34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4800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Transfiere a un corredor ante incertidumbre, solicitud sensible o intención comercial.</a:t>
            </a:r>
          </a:p>
        </p:txBody>
      </p:sp>
    </p:spTree>
    <p:extLst>
      <p:ext uri="{BB962C8B-B14F-4D97-AF65-F5344CB8AC3E}">
        <p14:creationId xmlns:p14="http://schemas.microsoft.com/office/powerpoint/2010/main" val="949970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5995519-DD7E-4FC0-8092-567ED3C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728"/>
                </a:solidFill>
              </a:defRPr>
            </a:pPr>
            <a:r>
              <a:rPr sz="2625" b="1">
                <a:solidFill>
                  <a:srgbClr val="0B1728"/>
                </a:solidFill>
              </a:rPr>
              <a:t>Cada objetivo tendrá una evidencia técnica y una validación asociada</a:t>
            </a:r>
          </a:p>
        </p:txBody>
      </p:sp>
      <p:sp>
        <p:nvSpPr>
          <p:cNvPr id="2" name="box-m6jgmmu">
            <a:extLst xmlns:a="http://schemas.openxmlformats.org/drawingml/2006/main">
              <a:ext uri="{FF2B5EF4-FFF2-40B4-BE49-F238E27FC236}">
                <a16:creationId xmlns:a16="http://schemas.microsoft.com/office/drawing/2014/main" id="{8D3D1D35-6A6B-493C-BF95-97806F5C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xvrvg22">
            <a:extLst xmlns:a="http://schemas.openxmlformats.org/drawingml/2006/main">
              <a:ext uri="{FF2B5EF4-FFF2-40B4-BE49-F238E27FC236}">
                <a16:creationId xmlns:a16="http://schemas.microsoft.com/office/drawing/2014/main" id="{6A97243C-E916-4985-B79D-9EB5FA0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InmoGest IA · Capstone 2026</a:t>
            </a:r>
          </a:p>
        </p:txBody>
      </p:sp>
      <p:sp>
        <p:nvSpPr>
          <p:cNvPr id="4" name="text-rt4ybmi">
            <a:extLst xmlns:a="http://schemas.openxmlformats.org/drawingml/2006/main">
              <a:ext uri="{FF2B5EF4-FFF2-40B4-BE49-F238E27FC236}">
                <a16:creationId xmlns:a16="http://schemas.microsoft.com/office/drawing/2014/main" id="{E923331E-CF0B-43AA-8EAE-E877CC9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5" name="text-pauubwc">
            <a:extLst xmlns:a="http://schemas.openxmlformats.org/drawingml/2006/main">
              <a:ext uri="{FF2B5EF4-FFF2-40B4-BE49-F238E27FC236}">
                <a16:creationId xmlns:a16="http://schemas.microsoft.com/office/drawing/2014/main" id="{2A58EE5D-D362-49E6-A2C9-086DEB91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Objetivo</a:t>
            </a:r>
          </a:p>
        </p:txBody>
      </p:sp>
      <p:sp>
        <p:nvSpPr>
          <p:cNvPr id="6" name="text-or5ssg7">
            <a:extLst xmlns:a="http://schemas.openxmlformats.org/drawingml/2006/main">
              <a:ext uri="{FF2B5EF4-FFF2-40B4-BE49-F238E27FC236}">
                <a16:creationId xmlns:a16="http://schemas.microsoft.com/office/drawing/2014/main" id="{A7FBF51D-6F19-4860-B82F-C2BC634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Evidencia</a:t>
            </a:r>
          </a:p>
        </p:txBody>
      </p:sp>
      <p:sp>
        <p:nvSpPr>
          <p:cNvPr id="7" name="text-bd5bxf7">
            <a:extLst xmlns:a="http://schemas.openxmlformats.org/drawingml/2006/main">
              <a:ext uri="{FF2B5EF4-FFF2-40B4-BE49-F238E27FC236}">
                <a16:creationId xmlns:a16="http://schemas.microsoft.com/office/drawing/2014/main" id="{DE8000BF-720F-4C85-AC79-95E4E22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09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Validación</a:t>
            </a:r>
          </a:p>
        </p:txBody>
      </p:sp>
      <p:sp>
        <p:nvSpPr>
          <p:cNvPr id="8" name="box-oz221gy">
            <a:extLst xmlns:a="http://schemas.openxmlformats.org/drawingml/2006/main">
              <a:ext uri="{FF2B5EF4-FFF2-40B4-BE49-F238E27FC236}">
                <a16:creationId xmlns:a16="http://schemas.microsoft.com/office/drawing/2014/main" id="{AA509EA4-E302-4C39-8A52-58E0A452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7k4iqmn">
            <a:extLst xmlns:a="http://schemas.openxmlformats.org/drawingml/2006/main">
              <a:ext uri="{FF2B5EF4-FFF2-40B4-BE49-F238E27FC236}">
                <a16:creationId xmlns:a16="http://schemas.microsoft.com/office/drawing/2014/main" id="{D3940D98-7D8C-4A8C-9A5A-22C606C9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Diseñar</a:t>
            </a:r>
          </a:p>
        </p:txBody>
      </p:sp>
      <p:sp>
        <p:nvSpPr>
          <p:cNvPr id="10" name="text-rf1h8ol">
            <a:extLst xmlns:a="http://schemas.openxmlformats.org/drawingml/2006/main">
              <a:ext uri="{FF2B5EF4-FFF2-40B4-BE49-F238E27FC236}">
                <a16:creationId xmlns:a16="http://schemas.microsoft.com/office/drawing/2014/main" id="{02769CD9-4674-450A-8D59-58C46107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Arquitectura + modelo de datos</a:t>
            </a:r>
          </a:p>
        </p:txBody>
      </p:sp>
      <p:sp>
        <p:nvSpPr>
          <p:cNvPr id="11" name="text-e4nftox">
            <a:extLst xmlns:a="http://schemas.openxmlformats.org/drawingml/2006/main">
              <a:ext uri="{FF2B5EF4-FFF2-40B4-BE49-F238E27FC236}">
                <a16:creationId xmlns:a16="http://schemas.microsoft.com/office/drawing/2014/main" id="{442B8D7D-F004-47B2-82B5-214F113A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Revisión técnica</a:t>
            </a:r>
          </a:p>
        </p:txBody>
      </p:sp>
      <p:sp>
        <p:nvSpPr>
          <p:cNvPr id="12" name="box-5pzotbm">
            <a:extLst xmlns:a="http://schemas.openxmlformats.org/drawingml/2006/main">
              <a:ext uri="{FF2B5EF4-FFF2-40B4-BE49-F238E27FC236}">
                <a16:creationId xmlns:a16="http://schemas.microsoft.com/office/drawing/2014/main" id="{F1514F4D-A360-4D86-BB04-96F6DF69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2ls15hs">
            <a:extLst xmlns:a="http://schemas.openxmlformats.org/drawingml/2006/main">
              <a:ext uri="{FF2B5EF4-FFF2-40B4-BE49-F238E27FC236}">
                <a16:creationId xmlns:a16="http://schemas.microsoft.com/office/drawing/2014/main" id="{49133B17-F3BF-4268-AA5E-BF0EBF13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Construir</a:t>
            </a:r>
          </a:p>
        </p:txBody>
      </p:sp>
      <p:sp>
        <p:nvSpPr>
          <p:cNvPr id="14" name="text-1rpnz1x">
            <a:extLst xmlns:a="http://schemas.openxmlformats.org/drawingml/2006/main">
              <a:ext uri="{FF2B5EF4-FFF2-40B4-BE49-F238E27FC236}">
                <a16:creationId xmlns:a16="http://schemas.microsoft.com/office/drawing/2014/main" id="{395142C6-192A-4C1D-BF00-1131CBD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Código, API y migraciones</a:t>
            </a:r>
          </a:p>
        </p:txBody>
      </p:sp>
      <p:sp>
        <p:nvSpPr>
          <p:cNvPr id="15" name="text-s9tyk8r">
            <a:extLst xmlns:a="http://schemas.openxmlformats.org/drawingml/2006/main">
              <a:ext uri="{FF2B5EF4-FFF2-40B4-BE49-F238E27FC236}">
                <a16:creationId xmlns:a16="http://schemas.microsoft.com/office/drawing/2014/main" id="{7FF94595-D504-4426-B7A0-F0FFF53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Pruebas automáticas</a:t>
            </a:r>
          </a:p>
        </p:txBody>
      </p:sp>
      <p:sp>
        <p:nvSpPr>
          <p:cNvPr id="16" name="box-ku4djd0">
            <a:extLst xmlns:a="http://schemas.openxmlformats.org/drawingml/2006/main">
              <a:ext uri="{FF2B5EF4-FFF2-40B4-BE49-F238E27FC236}">
                <a16:creationId xmlns:a16="http://schemas.microsoft.com/office/drawing/2014/main" id="{D471DE51-3BFD-4306-9569-422B48A8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at6zpkb">
            <a:extLst xmlns:a="http://schemas.openxmlformats.org/drawingml/2006/main">
              <a:ext uri="{FF2B5EF4-FFF2-40B4-BE49-F238E27FC236}">
                <a16:creationId xmlns:a16="http://schemas.microsoft.com/office/drawing/2014/main" id="{452A9A60-8E8D-48CF-BD7E-0E56098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Integrar</a:t>
            </a:r>
          </a:p>
        </p:txBody>
      </p:sp>
      <p:sp>
        <p:nvSpPr>
          <p:cNvPr id="18" name="text-txvmdhw">
            <a:extLst xmlns:a="http://schemas.openxmlformats.org/drawingml/2006/main">
              <a:ext uri="{FF2B5EF4-FFF2-40B4-BE49-F238E27FC236}">
                <a16:creationId xmlns:a16="http://schemas.microsoft.com/office/drawing/2014/main" id="{8F3DA969-6BA4-4BEB-B6A0-FD9CD154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Vitrina + CRM + agente IA</a:t>
            </a:r>
          </a:p>
        </p:txBody>
      </p:sp>
      <p:sp>
        <p:nvSpPr>
          <p:cNvPr id="19" name="text-l52yb14">
            <a:extLst xmlns:a="http://schemas.openxmlformats.org/drawingml/2006/main">
              <a:ext uri="{FF2B5EF4-FFF2-40B4-BE49-F238E27FC236}">
                <a16:creationId xmlns:a16="http://schemas.microsoft.com/office/drawing/2014/main" id="{F8E482B3-229F-45E5-BFC6-7D9481A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Prueba E2E</a:t>
            </a:r>
          </a:p>
        </p:txBody>
      </p:sp>
      <p:sp>
        <p:nvSpPr>
          <p:cNvPr id="20" name="box-agld316">
            <a:extLst xmlns:a="http://schemas.openxmlformats.org/drawingml/2006/main">
              <a:ext uri="{FF2B5EF4-FFF2-40B4-BE49-F238E27FC236}">
                <a16:creationId xmlns:a16="http://schemas.microsoft.com/office/drawing/2014/main" id="{9D4C5745-B60E-4D61-84F3-56CC91F3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f5sjy0u">
            <a:extLst xmlns:a="http://schemas.openxmlformats.org/drawingml/2006/main">
              <a:ext uri="{FF2B5EF4-FFF2-40B4-BE49-F238E27FC236}">
                <a16:creationId xmlns:a16="http://schemas.microsoft.com/office/drawing/2014/main" id="{94DDF04E-D67E-4A26-BA8C-083FA9F5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Operar</a:t>
            </a:r>
          </a:p>
        </p:txBody>
      </p:sp>
      <p:sp>
        <p:nvSpPr>
          <p:cNvPr id="22" name="text-hceiz9d">
            <a:extLst xmlns:a="http://schemas.openxmlformats.org/drawingml/2006/main">
              <a:ext uri="{FF2B5EF4-FFF2-40B4-BE49-F238E27FC236}">
                <a16:creationId xmlns:a16="http://schemas.microsoft.com/office/drawing/2014/main" id="{C92203BE-DC06-4BA5-83E5-EB93C6E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Docker, VPS y monitoreo</a:t>
            </a:r>
          </a:p>
        </p:txBody>
      </p:sp>
      <p:sp>
        <p:nvSpPr>
          <p:cNvPr id="23" name="text-ixx4arn">
            <a:extLst xmlns:a="http://schemas.openxmlformats.org/drawingml/2006/main">
              <a:ext uri="{FF2B5EF4-FFF2-40B4-BE49-F238E27FC236}">
                <a16:creationId xmlns:a16="http://schemas.microsoft.com/office/drawing/2014/main" id="{8BB89CAC-392A-4D18-95EE-D3A35CE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38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Checklist de despliegue</a:t>
            </a:r>
          </a:p>
        </p:txBody>
      </p:sp>
      <p:sp>
        <p:nvSpPr>
          <p:cNvPr id="24" name="box-wc3eepp">
            <a:extLst xmlns:a="http://schemas.openxmlformats.org/drawingml/2006/main">
              <a:ext uri="{FF2B5EF4-FFF2-40B4-BE49-F238E27FC236}">
                <a16:creationId xmlns:a16="http://schemas.microsoft.com/office/drawing/2014/main" id="{CB5294D6-DDF0-433D-94CC-0DDEA23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-a0jmg3y">
            <a:extLst xmlns:a="http://schemas.openxmlformats.org/drawingml/2006/main">
              <a:ext uri="{FF2B5EF4-FFF2-40B4-BE49-F238E27FC236}">
                <a16:creationId xmlns:a16="http://schemas.microsoft.com/office/drawing/2014/main" id="{9EBA1C2A-81F6-4319-A0F1-630576DD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Gestionar</a:t>
            </a:r>
          </a:p>
        </p:txBody>
      </p:sp>
      <p:sp>
        <p:nvSpPr>
          <p:cNvPr id="26" name="text-dqxn0fn">
            <a:extLst xmlns:a="http://schemas.openxmlformats.org/drawingml/2006/main">
              <a:ext uri="{FF2B5EF4-FFF2-40B4-BE49-F238E27FC236}">
                <a16:creationId xmlns:a16="http://schemas.microsoft.com/office/drawing/2014/main" id="{F46E7435-83E1-4153-B1E3-79828E2B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244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Backlog, actas y métricas</a:t>
            </a:r>
          </a:p>
        </p:txBody>
      </p:sp>
      <p:sp>
        <p:nvSpPr>
          <p:cNvPr id="27" name="text-izz8puf">
            <a:extLst xmlns:a="http://schemas.openxmlformats.org/drawingml/2006/main">
              <a:ext uri="{FF2B5EF4-FFF2-40B4-BE49-F238E27FC236}">
                <a16:creationId xmlns:a16="http://schemas.microsoft.com/office/drawing/2014/main" id="{DE5796E5-9579-4D9C-B9B7-48499EE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24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8"/>
                </a:solidFill>
              </a:defRPr>
            </a:pPr>
            <a:r>
              <a:rPr sz="1350" b="0">
                <a:solidFill>
                  <a:srgbClr val="0B1728"/>
                </a:solidFill>
              </a:rPr>
              <a:t>Review + retrospectiva</a:t>
            </a:r>
          </a:p>
        </p:txBody>
      </p:sp>
    </p:spTree>
    <p:extLst>
      <p:ext uri="{BB962C8B-B14F-4D97-AF65-F5344CB8AC3E}">
        <p14:creationId xmlns:p14="http://schemas.microsoft.com/office/powerpoint/2010/main" val="498629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nh5jbfp">
            <a:extLst xmlns:a="http://schemas.openxmlformats.org/drawingml/2006/main">
              <a:ext uri="{FF2B5EF4-FFF2-40B4-BE49-F238E27FC236}">
                <a16:creationId xmlns:a16="http://schemas.microsoft.com/office/drawing/2014/main" id="{2BCAFEFD-348B-4974-9BD2-E731E6B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DECISIÓN SOLICITADA</a:t>
            </a:r>
          </a:p>
        </p:txBody>
      </p:sp>
      <p:sp>
        <p:nvSpPr>
          <p:cNvPr id="2" name="text-bijr99l">
            <a:extLst xmlns:a="http://schemas.openxmlformats.org/drawingml/2006/main">
              <a:ext uri="{FF2B5EF4-FFF2-40B4-BE49-F238E27FC236}">
                <a16:creationId xmlns:a16="http://schemas.microsoft.com/office/drawing/2014/main" id="{5B78E094-68D1-42CE-8800-A0216E1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728"/>
                </a:solidFill>
              </a:defRPr>
            </a:pPr>
            <a:r>
              <a:rPr sz="4350" b="1">
                <a:solidFill>
                  <a:srgbClr val="0B1728"/>
                </a:solidFill>
              </a:rPr>
              <a:t>Aprobar InmoGest IA para avanzar al desarrollo del MVP</a:t>
            </a:r>
          </a:p>
        </p:txBody>
      </p:sp>
      <p:sp>
        <p:nvSpPr>
          <p:cNvPr id="3" name="text-i2rh4rq">
            <a:extLst xmlns:a="http://schemas.openxmlformats.org/drawingml/2006/main">
              <a:ext uri="{FF2B5EF4-FFF2-40B4-BE49-F238E27FC236}">
                <a16:creationId xmlns:a16="http://schemas.microsoft.com/office/drawing/2014/main" id="{64134360-B520-49FD-B777-7D5EFFA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6D"/>
                </a:solidFill>
              </a:defRPr>
            </a:pPr>
            <a:r>
              <a:rPr sz="1950" b="0">
                <a:solidFill>
                  <a:srgbClr val="52606D"/>
                </a:solidFill>
              </a:rPr>
              <a:t>Problema relevante · alcance factible · equipo complementario · evidencia verificable</a:t>
            </a:r>
          </a:p>
        </p:txBody>
      </p:sp>
      <p:sp>
        <p:nvSpPr>
          <p:cNvPr id="4" name="box-ybider2">
            <a:extLst xmlns:a="http://schemas.openxmlformats.org/drawingml/2006/main">
              <a:ext uri="{FF2B5EF4-FFF2-40B4-BE49-F238E27FC236}">
                <a16:creationId xmlns:a16="http://schemas.microsoft.com/office/drawing/2014/main" id="{54AFC212-E3F7-47CB-961F-2DD1842F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0744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text-r3b6do5">
            <a:extLst xmlns:a="http://schemas.openxmlformats.org/drawingml/2006/main">
              <a:ext uri="{FF2B5EF4-FFF2-40B4-BE49-F238E27FC236}">
                <a16:creationId xmlns:a16="http://schemas.microsoft.com/office/drawing/2014/main" id="{11218E9D-ED5B-49FD-950F-AA65864A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35B"/>
                </a:solidFill>
              </a:defRPr>
            </a:pPr>
            <a:r>
              <a:rPr sz="1650" b="1">
                <a:solidFill>
                  <a:srgbClr val="16835B"/>
                </a:solidFill>
              </a:rPr>
              <a:t>Siguiente hito: validación docente de la definición y cierre de observaciones de Fase 1.</a:t>
            </a:r>
          </a:p>
        </p:txBody>
      </p:sp>
    </p:spTree>
    <p:extLst>
      <p:ext uri="{BB962C8B-B14F-4D97-AF65-F5344CB8AC3E}">
        <p14:creationId xmlns:p14="http://schemas.microsoft.com/office/powerpoint/2010/main" val="1145893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2026-08-17T16:06:55.8740000Z</dcterms:created>
  <dcterms:modified xsi:type="dcterms:W3CDTF">2026-08-17T16:06:55.8740000Z</dcterms:modified>
</coreProperties>
</file>